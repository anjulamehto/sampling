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6"/>
  </p:notesMasterIdLst>
  <p:sldIdLst>
    <p:sldId id="258" r:id="rId2"/>
    <p:sldId id="486" r:id="rId3"/>
    <p:sldId id="261" r:id="rId4"/>
    <p:sldId id="257" r:id="rId5"/>
    <p:sldId id="260" r:id="rId6"/>
    <p:sldId id="265" r:id="rId7"/>
    <p:sldId id="266" r:id="rId8"/>
    <p:sldId id="267" r:id="rId9"/>
    <p:sldId id="259" r:id="rId10"/>
    <p:sldId id="276" r:id="rId11"/>
    <p:sldId id="293" r:id="rId12"/>
    <p:sldId id="294" r:id="rId13"/>
    <p:sldId id="295" r:id="rId14"/>
    <p:sldId id="325" r:id="rId15"/>
    <p:sldId id="321" r:id="rId16"/>
    <p:sldId id="292" r:id="rId17"/>
    <p:sldId id="320" r:id="rId18"/>
    <p:sldId id="487" r:id="rId19"/>
    <p:sldId id="278" r:id="rId20"/>
    <p:sldId id="280" r:id="rId21"/>
    <p:sldId id="282" r:id="rId22"/>
    <p:sldId id="283" r:id="rId23"/>
    <p:sldId id="296" r:id="rId24"/>
    <p:sldId id="284" r:id="rId25"/>
    <p:sldId id="285" r:id="rId26"/>
    <p:sldId id="298" r:id="rId27"/>
    <p:sldId id="322" r:id="rId28"/>
    <p:sldId id="274" r:id="rId29"/>
    <p:sldId id="277" r:id="rId30"/>
    <p:sldId id="323" r:id="rId31"/>
    <p:sldId id="324" r:id="rId32"/>
    <p:sldId id="286" r:id="rId33"/>
    <p:sldId id="287" r:id="rId34"/>
    <p:sldId id="288" r:id="rId35"/>
    <p:sldId id="268" r:id="rId36"/>
    <p:sldId id="269" r:id="rId37"/>
    <p:sldId id="270" r:id="rId38"/>
    <p:sldId id="271" r:id="rId39"/>
    <p:sldId id="272" r:id="rId40"/>
    <p:sldId id="289" r:id="rId41"/>
    <p:sldId id="309" r:id="rId42"/>
    <p:sldId id="290" r:id="rId43"/>
    <p:sldId id="310" r:id="rId44"/>
    <p:sldId id="291" r:id="rId45"/>
    <p:sldId id="299" r:id="rId46"/>
    <p:sldId id="300" r:id="rId47"/>
    <p:sldId id="302" r:id="rId48"/>
    <p:sldId id="301" r:id="rId49"/>
    <p:sldId id="317" r:id="rId50"/>
    <p:sldId id="311" r:id="rId51"/>
    <p:sldId id="312" r:id="rId52"/>
    <p:sldId id="313" r:id="rId53"/>
    <p:sldId id="314" r:id="rId54"/>
    <p:sldId id="315" r:id="rId55"/>
    <p:sldId id="316" r:id="rId56"/>
    <p:sldId id="318" r:id="rId57"/>
    <p:sldId id="319" r:id="rId58"/>
    <p:sldId id="303" r:id="rId59"/>
    <p:sldId id="304" r:id="rId60"/>
    <p:sldId id="305" r:id="rId61"/>
    <p:sldId id="306" r:id="rId62"/>
    <p:sldId id="326" r:id="rId63"/>
    <p:sldId id="488" r:id="rId64"/>
    <p:sldId id="489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823717-9FA1-4243-A9B8-FA79C76ED0B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485792-4591-4B47-B839-3162E7466BC0}" type="pres">
      <dgm:prSet presAssocID="{3C823717-9FA1-4243-A9B8-FA79C76ED0B8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EBDC2EAF-2311-45F5-8348-E26D62622F83}" type="presOf" srcId="{3C823717-9FA1-4243-A9B8-FA79C76ED0B8}" destId="{B8485792-4591-4B47-B839-3162E7466BC0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9D6021-E3C3-4F48-8391-877A12088E9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0E1449-15FE-489C-BCE2-4A7402F4A370}">
      <dgm:prSet phldrT="[Text]"/>
      <dgm:spPr/>
      <dgm:t>
        <a:bodyPr/>
        <a:lstStyle/>
        <a:p>
          <a:pPr algn="ctr"/>
          <a:r>
            <a:rPr lang="en-US" b="1" dirty="0"/>
            <a:t>Define target population</a:t>
          </a:r>
        </a:p>
      </dgm:t>
    </dgm:pt>
    <dgm:pt modelId="{7316D601-3DF1-45EF-85DD-2664BCC3F826}" type="parTrans" cxnId="{33F43F99-8675-4E35-8E34-52BC68E2223E}">
      <dgm:prSet/>
      <dgm:spPr/>
      <dgm:t>
        <a:bodyPr/>
        <a:lstStyle/>
        <a:p>
          <a:endParaRPr lang="en-US"/>
        </a:p>
      </dgm:t>
    </dgm:pt>
    <dgm:pt modelId="{2166D2FE-0D07-4A73-934D-F2C0342E7C83}" type="sibTrans" cxnId="{33F43F99-8675-4E35-8E34-52BC68E2223E}">
      <dgm:prSet/>
      <dgm:spPr/>
      <dgm:t>
        <a:bodyPr/>
        <a:lstStyle/>
        <a:p>
          <a:endParaRPr lang="en-US"/>
        </a:p>
      </dgm:t>
    </dgm:pt>
    <dgm:pt modelId="{A346CBDA-E471-4FD4-BD6A-C6A4BEA46933}">
      <dgm:prSet phldrT="[Text]"/>
      <dgm:spPr/>
      <dgm:t>
        <a:bodyPr/>
        <a:lstStyle/>
        <a:p>
          <a:r>
            <a:rPr lang="en-US" b="1" dirty="0"/>
            <a:t>Sampling frame</a:t>
          </a:r>
        </a:p>
      </dgm:t>
    </dgm:pt>
    <dgm:pt modelId="{67BD5DAA-ECAB-451E-ADAF-81E8346EF5CF}" type="parTrans" cxnId="{65F11B8B-E3B5-44BC-BE25-B6DBCE73304C}">
      <dgm:prSet/>
      <dgm:spPr/>
      <dgm:t>
        <a:bodyPr/>
        <a:lstStyle/>
        <a:p>
          <a:endParaRPr lang="en-US"/>
        </a:p>
      </dgm:t>
    </dgm:pt>
    <dgm:pt modelId="{F86162D1-0E9D-4A89-A4CE-4832890A3391}" type="sibTrans" cxnId="{65F11B8B-E3B5-44BC-BE25-B6DBCE73304C}">
      <dgm:prSet/>
      <dgm:spPr/>
      <dgm:t>
        <a:bodyPr/>
        <a:lstStyle/>
        <a:p>
          <a:endParaRPr lang="en-US"/>
        </a:p>
      </dgm:t>
    </dgm:pt>
    <dgm:pt modelId="{80B37E33-2AF7-48BE-9991-9A512C9E0F82}">
      <dgm:prSet phldrT="[Text]"/>
      <dgm:spPr/>
      <dgm:t>
        <a:bodyPr/>
        <a:lstStyle/>
        <a:p>
          <a:r>
            <a:rPr lang="en-US" b="1" dirty="0"/>
            <a:t>Sampling method</a:t>
          </a:r>
        </a:p>
      </dgm:t>
    </dgm:pt>
    <dgm:pt modelId="{E5277C1A-FFE5-47E7-81D9-2FE6E1AC3421}" type="parTrans" cxnId="{8183CBE6-ACF7-4B20-A570-42EAADC6D7C0}">
      <dgm:prSet/>
      <dgm:spPr/>
      <dgm:t>
        <a:bodyPr/>
        <a:lstStyle/>
        <a:p>
          <a:endParaRPr lang="en-US"/>
        </a:p>
      </dgm:t>
    </dgm:pt>
    <dgm:pt modelId="{9E123D84-73DE-4245-AF1A-114ECE867DC5}" type="sibTrans" cxnId="{8183CBE6-ACF7-4B20-A570-42EAADC6D7C0}">
      <dgm:prSet/>
      <dgm:spPr/>
      <dgm:t>
        <a:bodyPr/>
        <a:lstStyle/>
        <a:p>
          <a:endParaRPr lang="en-US"/>
        </a:p>
      </dgm:t>
    </dgm:pt>
    <dgm:pt modelId="{D27145DD-9FBD-4EC1-BB5A-956F4229272F}">
      <dgm:prSet phldrT="[Text]"/>
      <dgm:spPr/>
      <dgm:t>
        <a:bodyPr/>
        <a:lstStyle/>
        <a:p>
          <a:r>
            <a:rPr lang="en-US" b="1" dirty="0"/>
            <a:t>Sample size</a:t>
          </a:r>
        </a:p>
      </dgm:t>
    </dgm:pt>
    <dgm:pt modelId="{919FDA8D-7355-470F-B826-07A2F456A5BF}" type="parTrans" cxnId="{71BC1F47-B3F3-42E5-BB38-C681EA9F87D9}">
      <dgm:prSet/>
      <dgm:spPr/>
      <dgm:t>
        <a:bodyPr/>
        <a:lstStyle/>
        <a:p>
          <a:endParaRPr lang="en-US"/>
        </a:p>
      </dgm:t>
    </dgm:pt>
    <dgm:pt modelId="{15815F6A-26BC-4D8A-9C9D-00E6FB2101B2}" type="sibTrans" cxnId="{71BC1F47-B3F3-42E5-BB38-C681EA9F87D9}">
      <dgm:prSet/>
      <dgm:spPr/>
      <dgm:t>
        <a:bodyPr/>
        <a:lstStyle/>
        <a:p>
          <a:endParaRPr lang="en-US"/>
        </a:p>
      </dgm:t>
    </dgm:pt>
    <dgm:pt modelId="{E92DA4D7-F299-49BA-A460-5F47D26152B6}">
      <dgm:prSet phldrT="[Text]"/>
      <dgm:spPr/>
      <dgm:t>
        <a:bodyPr/>
        <a:lstStyle/>
        <a:p>
          <a:r>
            <a:rPr lang="en-US" b="1" dirty="0"/>
            <a:t>Collect the required data</a:t>
          </a:r>
        </a:p>
      </dgm:t>
    </dgm:pt>
    <dgm:pt modelId="{14E938CA-A644-4D53-9768-75A2F5EE4A2F}" type="parTrans" cxnId="{5777A317-9E48-462C-AE0C-2B748C5AAFAF}">
      <dgm:prSet/>
      <dgm:spPr/>
      <dgm:t>
        <a:bodyPr/>
        <a:lstStyle/>
        <a:p>
          <a:endParaRPr lang="en-US"/>
        </a:p>
      </dgm:t>
    </dgm:pt>
    <dgm:pt modelId="{640E780D-AA2A-461E-9F24-3FECF0649D5D}" type="sibTrans" cxnId="{5777A317-9E48-462C-AE0C-2B748C5AAFAF}">
      <dgm:prSet/>
      <dgm:spPr/>
      <dgm:t>
        <a:bodyPr/>
        <a:lstStyle/>
        <a:p>
          <a:endParaRPr lang="en-US"/>
        </a:p>
      </dgm:t>
    </dgm:pt>
    <dgm:pt modelId="{47433055-D610-46A8-9EFD-D1D517F30E73}" type="pres">
      <dgm:prSet presAssocID="{569D6021-E3C3-4F48-8391-877A12088E99}" presName="linearFlow" presStyleCnt="0">
        <dgm:presLayoutVars>
          <dgm:resizeHandles val="exact"/>
        </dgm:presLayoutVars>
      </dgm:prSet>
      <dgm:spPr/>
    </dgm:pt>
    <dgm:pt modelId="{0A3B2332-435B-4614-BF64-375721750489}" type="pres">
      <dgm:prSet presAssocID="{1C0E1449-15FE-489C-BCE2-4A7402F4A370}" presName="node" presStyleLbl="node1" presStyleIdx="0" presStyleCnt="5" custScaleX="266563">
        <dgm:presLayoutVars>
          <dgm:bulletEnabled val="1"/>
        </dgm:presLayoutVars>
      </dgm:prSet>
      <dgm:spPr/>
    </dgm:pt>
    <dgm:pt modelId="{4516B8CB-CBF5-4536-827A-6AC3DC99A2D7}" type="pres">
      <dgm:prSet presAssocID="{2166D2FE-0D07-4A73-934D-F2C0342E7C83}" presName="sibTrans" presStyleLbl="sibTrans2D1" presStyleIdx="0" presStyleCnt="4"/>
      <dgm:spPr/>
    </dgm:pt>
    <dgm:pt modelId="{EDCF39EE-4026-410C-B750-8C87F34E6293}" type="pres">
      <dgm:prSet presAssocID="{2166D2FE-0D07-4A73-934D-F2C0342E7C83}" presName="connectorText" presStyleLbl="sibTrans2D1" presStyleIdx="0" presStyleCnt="4"/>
      <dgm:spPr/>
    </dgm:pt>
    <dgm:pt modelId="{69F573FC-EF26-43A6-84A4-C2368FE3F3CB}" type="pres">
      <dgm:prSet presAssocID="{A346CBDA-E471-4FD4-BD6A-C6A4BEA46933}" presName="node" presStyleLbl="node1" presStyleIdx="1" presStyleCnt="5" custScaleX="278410">
        <dgm:presLayoutVars>
          <dgm:bulletEnabled val="1"/>
        </dgm:presLayoutVars>
      </dgm:prSet>
      <dgm:spPr/>
    </dgm:pt>
    <dgm:pt modelId="{D4DE8722-BDBA-47F9-B90D-B25DE9F79C61}" type="pres">
      <dgm:prSet presAssocID="{F86162D1-0E9D-4A89-A4CE-4832890A3391}" presName="sibTrans" presStyleLbl="sibTrans2D1" presStyleIdx="1" presStyleCnt="4"/>
      <dgm:spPr/>
    </dgm:pt>
    <dgm:pt modelId="{A96B6ADA-2F20-41BA-93F7-F5FB599BDD72}" type="pres">
      <dgm:prSet presAssocID="{F86162D1-0E9D-4A89-A4CE-4832890A3391}" presName="connectorText" presStyleLbl="sibTrans2D1" presStyleIdx="1" presStyleCnt="4"/>
      <dgm:spPr/>
    </dgm:pt>
    <dgm:pt modelId="{034FF8B8-DCC0-49A7-9FFB-6697C126AD69}" type="pres">
      <dgm:prSet presAssocID="{80B37E33-2AF7-48BE-9991-9A512C9E0F82}" presName="node" presStyleLbl="node1" presStyleIdx="2" presStyleCnt="5" custScaleX="276548" custLinFactNeighborX="931" custLinFactNeighborY="-7106">
        <dgm:presLayoutVars>
          <dgm:bulletEnabled val="1"/>
        </dgm:presLayoutVars>
      </dgm:prSet>
      <dgm:spPr/>
    </dgm:pt>
    <dgm:pt modelId="{B229901B-BAE6-45A8-ADE6-9FFBF653A988}" type="pres">
      <dgm:prSet presAssocID="{9E123D84-73DE-4245-AF1A-114ECE867DC5}" presName="sibTrans" presStyleLbl="sibTrans2D1" presStyleIdx="2" presStyleCnt="4"/>
      <dgm:spPr/>
    </dgm:pt>
    <dgm:pt modelId="{BD8ED354-A389-4B2A-92A5-45E23D3BAAF4}" type="pres">
      <dgm:prSet presAssocID="{9E123D84-73DE-4245-AF1A-114ECE867DC5}" presName="connectorText" presStyleLbl="sibTrans2D1" presStyleIdx="2" presStyleCnt="4"/>
      <dgm:spPr/>
    </dgm:pt>
    <dgm:pt modelId="{CB4E51EB-B981-440C-9AA3-3F4240A175B0}" type="pres">
      <dgm:prSet presAssocID="{D27145DD-9FBD-4EC1-BB5A-956F4229272F}" presName="node" presStyleLbl="node1" presStyleIdx="3" presStyleCnt="5" custScaleX="288395" custLinFactNeighborX="931" custLinFactNeighborY="-7106">
        <dgm:presLayoutVars>
          <dgm:bulletEnabled val="1"/>
        </dgm:presLayoutVars>
      </dgm:prSet>
      <dgm:spPr/>
    </dgm:pt>
    <dgm:pt modelId="{D9E7D56A-D4DF-4EBB-B990-3E2371E35C55}" type="pres">
      <dgm:prSet presAssocID="{15815F6A-26BC-4D8A-9C9D-00E6FB2101B2}" presName="sibTrans" presStyleLbl="sibTrans2D1" presStyleIdx="3" presStyleCnt="4"/>
      <dgm:spPr/>
    </dgm:pt>
    <dgm:pt modelId="{14A6E8BA-E7AB-42A4-81B1-C67BA6BA8A25}" type="pres">
      <dgm:prSet presAssocID="{15815F6A-26BC-4D8A-9C9D-00E6FB2101B2}" presName="connectorText" presStyleLbl="sibTrans2D1" presStyleIdx="3" presStyleCnt="4"/>
      <dgm:spPr/>
    </dgm:pt>
    <dgm:pt modelId="{D329D65B-D790-4482-AC65-8E2DA7EC4E12}" type="pres">
      <dgm:prSet presAssocID="{E92DA4D7-F299-49BA-A460-5F47D26152B6}" presName="node" presStyleLbl="node1" presStyleIdx="4" presStyleCnt="5" custScaleX="288395" custLinFactNeighborX="931" custLinFactNeighborY="-7106">
        <dgm:presLayoutVars>
          <dgm:bulletEnabled val="1"/>
        </dgm:presLayoutVars>
      </dgm:prSet>
      <dgm:spPr/>
    </dgm:pt>
  </dgm:ptLst>
  <dgm:cxnLst>
    <dgm:cxn modelId="{40C3D003-8B20-4F6F-9B86-E92FE694C062}" type="presOf" srcId="{15815F6A-26BC-4D8A-9C9D-00E6FB2101B2}" destId="{D9E7D56A-D4DF-4EBB-B990-3E2371E35C55}" srcOrd="0" destOrd="0" presId="urn:microsoft.com/office/officeart/2005/8/layout/process2"/>
    <dgm:cxn modelId="{6C146105-DB64-4D2B-B371-E1C8B5BFC5A2}" type="presOf" srcId="{F86162D1-0E9D-4A89-A4CE-4832890A3391}" destId="{D4DE8722-BDBA-47F9-B90D-B25DE9F79C61}" srcOrd="0" destOrd="0" presId="urn:microsoft.com/office/officeart/2005/8/layout/process2"/>
    <dgm:cxn modelId="{7BCBF90C-46EE-487A-8D3F-C16EFF02E5E7}" type="presOf" srcId="{D27145DD-9FBD-4EC1-BB5A-956F4229272F}" destId="{CB4E51EB-B981-440C-9AA3-3F4240A175B0}" srcOrd="0" destOrd="0" presId="urn:microsoft.com/office/officeart/2005/8/layout/process2"/>
    <dgm:cxn modelId="{5777A317-9E48-462C-AE0C-2B748C5AAFAF}" srcId="{569D6021-E3C3-4F48-8391-877A12088E99}" destId="{E92DA4D7-F299-49BA-A460-5F47D26152B6}" srcOrd="4" destOrd="0" parTransId="{14E938CA-A644-4D53-9768-75A2F5EE4A2F}" sibTransId="{640E780D-AA2A-461E-9F24-3FECF0649D5D}"/>
    <dgm:cxn modelId="{20A52A61-4C34-4A0C-968C-F5B3E799FC12}" type="presOf" srcId="{A346CBDA-E471-4FD4-BD6A-C6A4BEA46933}" destId="{69F573FC-EF26-43A6-84A4-C2368FE3F3CB}" srcOrd="0" destOrd="0" presId="urn:microsoft.com/office/officeart/2005/8/layout/process2"/>
    <dgm:cxn modelId="{71BC1F47-B3F3-42E5-BB38-C681EA9F87D9}" srcId="{569D6021-E3C3-4F48-8391-877A12088E99}" destId="{D27145DD-9FBD-4EC1-BB5A-956F4229272F}" srcOrd="3" destOrd="0" parTransId="{919FDA8D-7355-470F-B826-07A2F456A5BF}" sibTransId="{15815F6A-26BC-4D8A-9C9D-00E6FB2101B2}"/>
    <dgm:cxn modelId="{0D7EBF6E-4E48-47FC-AAA8-71FB323EF52F}" type="presOf" srcId="{1C0E1449-15FE-489C-BCE2-4A7402F4A370}" destId="{0A3B2332-435B-4614-BF64-375721750489}" srcOrd="0" destOrd="0" presId="urn:microsoft.com/office/officeart/2005/8/layout/process2"/>
    <dgm:cxn modelId="{7C383F72-6A46-4596-B923-3151435E1DC1}" type="presOf" srcId="{9E123D84-73DE-4245-AF1A-114ECE867DC5}" destId="{BD8ED354-A389-4B2A-92A5-45E23D3BAAF4}" srcOrd="1" destOrd="0" presId="urn:microsoft.com/office/officeart/2005/8/layout/process2"/>
    <dgm:cxn modelId="{64518877-7045-4D27-994C-BF1398B2D512}" type="presOf" srcId="{E92DA4D7-F299-49BA-A460-5F47D26152B6}" destId="{D329D65B-D790-4482-AC65-8E2DA7EC4E12}" srcOrd="0" destOrd="0" presId="urn:microsoft.com/office/officeart/2005/8/layout/process2"/>
    <dgm:cxn modelId="{3E17387F-38E7-4D68-84AC-39C6C04FC608}" type="presOf" srcId="{2166D2FE-0D07-4A73-934D-F2C0342E7C83}" destId="{4516B8CB-CBF5-4536-827A-6AC3DC99A2D7}" srcOrd="0" destOrd="0" presId="urn:microsoft.com/office/officeart/2005/8/layout/process2"/>
    <dgm:cxn modelId="{65F11B8B-E3B5-44BC-BE25-B6DBCE73304C}" srcId="{569D6021-E3C3-4F48-8391-877A12088E99}" destId="{A346CBDA-E471-4FD4-BD6A-C6A4BEA46933}" srcOrd="1" destOrd="0" parTransId="{67BD5DAA-ECAB-451E-ADAF-81E8346EF5CF}" sibTransId="{F86162D1-0E9D-4A89-A4CE-4832890A3391}"/>
    <dgm:cxn modelId="{4FF52F8F-503D-40F8-9BAD-1769FC17B0F5}" type="presOf" srcId="{15815F6A-26BC-4D8A-9C9D-00E6FB2101B2}" destId="{14A6E8BA-E7AB-42A4-81B1-C67BA6BA8A25}" srcOrd="1" destOrd="0" presId="urn:microsoft.com/office/officeart/2005/8/layout/process2"/>
    <dgm:cxn modelId="{33F43F99-8675-4E35-8E34-52BC68E2223E}" srcId="{569D6021-E3C3-4F48-8391-877A12088E99}" destId="{1C0E1449-15FE-489C-BCE2-4A7402F4A370}" srcOrd="0" destOrd="0" parTransId="{7316D601-3DF1-45EF-85DD-2664BCC3F826}" sibTransId="{2166D2FE-0D07-4A73-934D-F2C0342E7C83}"/>
    <dgm:cxn modelId="{94F760A4-F310-4997-B8C8-60EA70303348}" type="presOf" srcId="{9E123D84-73DE-4245-AF1A-114ECE867DC5}" destId="{B229901B-BAE6-45A8-ADE6-9FFBF653A988}" srcOrd="0" destOrd="0" presId="urn:microsoft.com/office/officeart/2005/8/layout/process2"/>
    <dgm:cxn modelId="{7F5911BD-A26E-4478-B331-65E474F938FF}" type="presOf" srcId="{80B37E33-2AF7-48BE-9991-9A512C9E0F82}" destId="{034FF8B8-DCC0-49A7-9FFB-6697C126AD69}" srcOrd="0" destOrd="0" presId="urn:microsoft.com/office/officeart/2005/8/layout/process2"/>
    <dgm:cxn modelId="{B21214D0-A1B7-4897-BBB4-C366E5928ED1}" type="presOf" srcId="{2166D2FE-0D07-4A73-934D-F2C0342E7C83}" destId="{EDCF39EE-4026-410C-B750-8C87F34E6293}" srcOrd="1" destOrd="0" presId="urn:microsoft.com/office/officeart/2005/8/layout/process2"/>
    <dgm:cxn modelId="{4C1F82D6-229B-4ED0-B0D0-91BC29F19CD0}" type="presOf" srcId="{F86162D1-0E9D-4A89-A4CE-4832890A3391}" destId="{A96B6ADA-2F20-41BA-93F7-F5FB599BDD72}" srcOrd="1" destOrd="0" presId="urn:microsoft.com/office/officeart/2005/8/layout/process2"/>
    <dgm:cxn modelId="{8183CBE6-ACF7-4B20-A570-42EAADC6D7C0}" srcId="{569D6021-E3C3-4F48-8391-877A12088E99}" destId="{80B37E33-2AF7-48BE-9991-9A512C9E0F82}" srcOrd="2" destOrd="0" parTransId="{E5277C1A-FFE5-47E7-81D9-2FE6E1AC3421}" sibTransId="{9E123D84-73DE-4245-AF1A-114ECE867DC5}"/>
    <dgm:cxn modelId="{9A2755E8-FD9E-43A9-B63E-E07661D1303A}" type="presOf" srcId="{569D6021-E3C3-4F48-8391-877A12088E99}" destId="{47433055-D610-46A8-9EFD-D1D517F30E73}" srcOrd="0" destOrd="0" presId="urn:microsoft.com/office/officeart/2005/8/layout/process2"/>
    <dgm:cxn modelId="{897E7EAE-9EF9-416E-88A8-7C3451851C63}" type="presParOf" srcId="{47433055-D610-46A8-9EFD-D1D517F30E73}" destId="{0A3B2332-435B-4614-BF64-375721750489}" srcOrd="0" destOrd="0" presId="urn:microsoft.com/office/officeart/2005/8/layout/process2"/>
    <dgm:cxn modelId="{15B7BC08-22F2-4571-B6AF-271CB20A7306}" type="presParOf" srcId="{47433055-D610-46A8-9EFD-D1D517F30E73}" destId="{4516B8CB-CBF5-4536-827A-6AC3DC99A2D7}" srcOrd="1" destOrd="0" presId="urn:microsoft.com/office/officeart/2005/8/layout/process2"/>
    <dgm:cxn modelId="{98A7EC21-CB37-45DB-93F1-9B5F0C4C598C}" type="presParOf" srcId="{4516B8CB-CBF5-4536-827A-6AC3DC99A2D7}" destId="{EDCF39EE-4026-410C-B750-8C87F34E6293}" srcOrd="0" destOrd="0" presId="urn:microsoft.com/office/officeart/2005/8/layout/process2"/>
    <dgm:cxn modelId="{BEE5720A-1CDD-4F05-A225-330493AB690A}" type="presParOf" srcId="{47433055-D610-46A8-9EFD-D1D517F30E73}" destId="{69F573FC-EF26-43A6-84A4-C2368FE3F3CB}" srcOrd="2" destOrd="0" presId="urn:microsoft.com/office/officeart/2005/8/layout/process2"/>
    <dgm:cxn modelId="{62EE0335-73D6-4EED-9D25-B0F8BE57D929}" type="presParOf" srcId="{47433055-D610-46A8-9EFD-D1D517F30E73}" destId="{D4DE8722-BDBA-47F9-B90D-B25DE9F79C61}" srcOrd="3" destOrd="0" presId="urn:microsoft.com/office/officeart/2005/8/layout/process2"/>
    <dgm:cxn modelId="{B00DFC76-2E7D-4B54-A45C-6B930240DB95}" type="presParOf" srcId="{D4DE8722-BDBA-47F9-B90D-B25DE9F79C61}" destId="{A96B6ADA-2F20-41BA-93F7-F5FB599BDD72}" srcOrd="0" destOrd="0" presId="urn:microsoft.com/office/officeart/2005/8/layout/process2"/>
    <dgm:cxn modelId="{9D5BE03C-FCA8-4712-AE24-19AC7485993C}" type="presParOf" srcId="{47433055-D610-46A8-9EFD-D1D517F30E73}" destId="{034FF8B8-DCC0-49A7-9FFB-6697C126AD69}" srcOrd="4" destOrd="0" presId="urn:microsoft.com/office/officeart/2005/8/layout/process2"/>
    <dgm:cxn modelId="{EB202BD0-7FCE-4471-A8F5-D392856BA709}" type="presParOf" srcId="{47433055-D610-46A8-9EFD-D1D517F30E73}" destId="{B229901B-BAE6-45A8-ADE6-9FFBF653A988}" srcOrd="5" destOrd="0" presId="urn:microsoft.com/office/officeart/2005/8/layout/process2"/>
    <dgm:cxn modelId="{EA498B3B-F569-4BFE-A4EE-AE5F9D82D750}" type="presParOf" srcId="{B229901B-BAE6-45A8-ADE6-9FFBF653A988}" destId="{BD8ED354-A389-4B2A-92A5-45E23D3BAAF4}" srcOrd="0" destOrd="0" presId="urn:microsoft.com/office/officeart/2005/8/layout/process2"/>
    <dgm:cxn modelId="{8AC15F85-6DE1-4D94-AFBC-AB58D1DA8758}" type="presParOf" srcId="{47433055-D610-46A8-9EFD-D1D517F30E73}" destId="{CB4E51EB-B981-440C-9AA3-3F4240A175B0}" srcOrd="6" destOrd="0" presId="urn:microsoft.com/office/officeart/2005/8/layout/process2"/>
    <dgm:cxn modelId="{C8BDB877-42A9-4F8B-9288-A71F307EA621}" type="presParOf" srcId="{47433055-D610-46A8-9EFD-D1D517F30E73}" destId="{D9E7D56A-D4DF-4EBB-B990-3E2371E35C55}" srcOrd="7" destOrd="0" presId="urn:microsoft.com/office/officeart/2005/8/layout/process2"/>
    <dgm:cxn modelId="{23328E0D-2C2E-47D6-A13A-EEFEECB7FC5F}" type="presParOf" srcId="{D9E7D56A-D4DF-4EBB-B990-3E2371E35C55}" destId="{14A6E8BA-E7AB-42A4-81B1-C67BA6BA8A25}" srcOrd="0" destOrd="0" presId="urn:microsoft.com/office/officeart/2005/8/layout/process2"/>
    <dgm:cxn modelId="{67BEBC30-89C3-4052-9A04-C09F7F63175A}" type="presParOf" srcId="{47433055-D610-46A8-9EFD-D1D517F30E73}" destId="{D329D65B-D790-4482-AC65-8E2DA7EC4E12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B2332-435B-4614-BF64-375721750489}">
      <dsp:nvSpPr>
        <dsp:cNvPr id="0" name=""/>
        <dsp:cNvSpPr/>
      </dsp:nvSpPr>
      <dsp:spPr>
        <a:xfrm>
          <a:off x="1981197" y="610"/>
          <a:ext cx="3429005" cy="71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Define target population</a:t>
          </a:r>
        </a:p>
      </dsp:txBody>
      <dsp:txXfrm>
        <a:off x="2002129" y="21542"/>
        <a:ext cx="3387141" cy="672790"/>
      </dsp:txXfrm>
    </dsp:sp>
    <dsp:sp modelId="{4516B8CB-CBF5-4536-827A-6AC3DC99A2D7}">
      <dsp:nvSpPr>
        <dsp:cNvPr id="0" name=""/>
        <dsp:cNvSpPr/>
      </dsp:nvSpPr>
      <dsp:spPr>
        <a:xfrm rot="5400000">
          <a:off x="3561702" y="733131"/>
          <a:ext cx="267995" cy="3215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599222" y="759930"/>
        <a:ext cx="192956" cy="187597"/>
      </dsp:txXfrm>
    </dsp:sp>
    <dsp:sp modelId="{69F573FC-EF26-43A6-84A4-C2368FE3F3CB}">
      <dsp:nvSpPr>
        <dsp:cNvPr id="0" name=""/>
        <dsp:cNvSpPr/>
      </dsp:nvSpPr>
      <dsp:spPr>
        <a:xfrm>
          <a:off x="1904998" y="1072591"/>
          <a:ext cx="3581403" cy="71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Sampling frame</a:t>
          </a:r>
        </a:p>
      </dsp:txBody>
      <dsp:txXfrm>
        <a:off x="1925930" y="1093523"/>
        <a:ext cx="3539539" cy="672790"/>
      </dsp:txXfrm>
    </dsp:sp>
    <dsp:sp modelId="{D4DE8722-BDBA-47F9-B90D-B25DE9F79C61}">
      <dsp:nvSpPr>
        <dsp:cNvPr id="0" name=""/>
        <dsp:cNvSpPr/>
      </dsp:nvSpPr>
      <dsp:spPr>
        <a:xfrm rot="5360663">
          <a:off x="3577204" y="1792416"/>
          <a:ext cx="248967" cy="3215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604783" y="1828731"/>
        <a:ext cx="192956" cy="174277"/>
      </dsp:txXfrm>
    </dsp:sp>
    <dsp:sp modelId="{034FF8B8-DCC0-49A7-9FFB-6697C126AD69}">
      <dsp:nvSpPr>
        <dsp:cNvPr id="0" name=""/>
        <dsp:cNvSpPr/>
      </dsp:nvSpPr>
      <dsp:spPr>
        <a:xfrm>
          <a:off x="1928950" y="2119181"/>
          <a:ext cx="3557450" cy="71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Sampling method</a:t>
          </a:r>
        </a:p>
      </dsp:txBody>
      <dsp:txXfrm>
        <a:off x="1949882" y="2140113"/>
        <a:ext cx="3515586" cy="672790"/>
      </dsp:txXfrm>
    </dsp:sp>
    <dsp:sp modelId="{B229901B-BAE6-45A8-ADE6-9FFBF653A988}">
      <dsp:nvSpPr>
        <dsp:cNvPr id="0" name=""/>
        <dsp:cNvSpPr/>
      </dsp:nvSpPr>
      <dsp:spPr>
        <a:xfrm rot="5400000">
          <a:off x="3573678" y="2851701"/>
          <a:ext cx="267995" cy="3215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611198" y="2878500"/>
        <a:ext cx="192956" cy="187597"/>
      </dsp:txXfrm>
    </dsp:sp>
    <dsp:sp modelId="{CB4E51EB-B981-440C-9AA3-3F4240A175B0}">
      <dsp:nvSpPr>
        <dsp:cNvPr id="0" name=""/>
        <dsp:cNvSpPr/>
      </dsp:nvSpPr>
      <dsp:spPr>
        <a:xfrm>
          <a:off x="1852752" y="3191162"/>
          <a:ext cx="3709847" cy="71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Sample size</a:t>
          </a:r>
        </a:p>
      </dsp:txBody>
      <dsp:txXfrm>
        <a:off x="1873684" y="3212094"/>
        <a:ext cx="3667983" cy="672790"/>
      </dsp:txXfrm>
    </dsp:sp>
    <dsp:sp modelId="{D9E7D56A-D4DF-4EBB-B990-3E2371E35C55}">
      <dsp:nvSpPr>
        <dsp:cNvPr id="0" name=""/>
        <dsp:cNvSpPr/>
      </dsp:nvSpPr>
      <dsp:spPr>
        <a:xfrm rot="5400000">
          <a:off x="3573678" y="3923682"/>
          <a:ext cx="267995" cy="3215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611198" y="3950481"/>
        <a:ext cx="192956" cy="187597"/>
      </dsp:txXfrm>
    </dsp:sp>
    <dsp:sp modelId="{D329D65B-D790-4482-AC65-8E2DA7EC4E12}">
      <dsp:nvSpPr>
        <dsp:cNvPr id="0" name=""/>
        <dsp:cNvSpPr/>
      </dsp:nvSpPr>
      <dsp:spPr>
        <a:xfrm>
          <a:off x="1852752" y="4263143"/>
          <a:ext cx="3709847" cy="71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Collect the required data</a:t>
          </a:r>
        </a:p>
      </dsp:txBody>
      <dsp:txXfrm>
        <a:off x="1873684" y="4284075"/>
        <a:ext cx="3667983" cy="672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A04F6-3B03-4A89-9A33-EB12EDDFF68A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14A7B-7557-4C06-9B2F-B11CE98D5E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7657-3197-727D-6386-A230B8B3E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94FE9-6A10-2A85-B5E4-31C79809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5D185-421E-E9BD-FB7C-04F90B7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598E2-7EB3-4099-B6D7-A030F8CED98C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914E-8772-F386-1655-744E4A0D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BCB23-F644-DC48-CDBE-790F4F91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4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5EED-D6DE-B2D3-6E09-696204E9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A1EFB-FA09-7755-D92F-26B70F8B3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DE3A-4194-9714-576F-A6051479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2606-E98C-47DF-9B5B-6AC8FD30D269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7C1C4-1617-9942-3246-621424F8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E9EA7-0B83-2FDD-888A-F5B732EB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6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EC62-0F82-FF5B-A07C-07815EB7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8FE5F-40D3-3791-7B81-DFDCAFCF7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9CC9C-51C4-4304-7766-294BF0E6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8A29-F09B-452F-854E-C23688DE9685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C89FE-7A57-E1A1-EAA4-B3692718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A0F4-8C2A-81BA-4511-8D434956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1581-4A82-BD12-63DB-C9C2891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AE9E-BB05-2E40-A7B3-5DC46144A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AAE17-4454-1380-C0F0-859EE0404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98110-9F46-AB3B-E2EA-FB7BE9E1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EE51-5CA3-40F2-80A4-44A146D4D4BB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4294E-16C8-E212-F0CE-0A286B5D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57F53-5E11-CAB4-28C5-AB7000BC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4D4C-148A-E88C-C0C7-32157A22B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F2766-1635-1256-2BFE-0EFE9CBF1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FADB4-CFAF-C451-221D-EB817AD06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0B593-D05C-28AC-7E66-27A7D7E32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18BA0-9300-9B5B-9165-0E80F5041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DC7F3-CD50-68E3-6424-4290642D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B584-F6A0-4250-A3F2-83038835473A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6F9A3-C62C-0BF7-D1C9-3BB769AB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175A3-DD14-8889-69C3-3CE49463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EBA0-1E37-F8BE-93A2-4D71CE86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A178D-DDD4-1052-7248-D3723F23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43B7-83AF-4FDB-AA6F-32BF8DF14AED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75A31-F005-89D4-EB33-68001F907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F91BD-B7DF-FA4C-404F-06C5D9F2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1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2B3E5-A9FD-D581-64FA-46998AAB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B541-E24E-4B08-9D8F-6EE9A0B6E474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16F97-8393-0CC9-E762-DBD47527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98A46-6898-B1B0-5263-B54FE072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1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F5F4-81DA-86C2-181E-4139BB01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ED87-6CEB-5E75-AE89-46250BBC8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87409-A9CD-632F-5EF7-9D102B8CE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7630D-F3AD-499A-30BD-5788650A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F03E2-4B1C-4308-AD8B-82DBAE6D30BA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C04CD-5FFE-5D25-57BF-50E56D7AF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609C6-F6C8-4299-3342-FC04BA5F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4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81CD-02A7-2F64-C694-61DDFEC7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E9772-D88B-B4C8-00B6-4F9BD13DC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7C00B-1A3F-B413-6697-A8BC52823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174EB-49BA-3778-A009-06B7E19F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AF847-1151-456B-9E7B-3CD02DDED924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193BD-7F00-FC71-F9BD-185A5CC3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C3D38-9126-7C7B-9F0C-7E8E97F6B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5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C055-D5CF-3468-781A-3A1BEF70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9C007-7845-0034-B688-991F8198A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BFD0-D852-50F2-8A4A-A6D867361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6E05-9C0E-44BC-877F-1B6953B9ECD9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01720-AD06-B0B7-78F0-AD4E0EBE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41B21-F931-57A9-A749-A94D40EE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5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F375C-6C89-0D6F-5D26-C0A393838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E242F-8301-496A-4B0F-481241E3D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6C314-B2BC-6E42-E892-35153BA6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C94-69DD-4C18-ADB3-3B76ADCA252C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726A7-22B2-23A4-B05C-2CDAF4E7F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19500-EFB5-8838-8C0F-0CF7F2C8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4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A2790-38A4-383F-826D-8E402DF2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D4564-090F-149D-C70F-A71BEC3B1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893C-021E-9348-2FBC-830198A05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5D660-0D52-4E2E-8BE4-4C2B09CC85AD}" type="datetime1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2A114-1D8C-EDA2-8454-6ECF1A87B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2C029-E327-12AD-D91C-529E5F15F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6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8639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Sampling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657600"/>
            <a:ext cx="7924800" cy="2895600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z="4000" b="1" dirty="0"/>
              <a:t>Course Instructor:</a:t>
            </a:r>
          </a:p>
          <a:p>
            <a:pPr algn="ctr"/>
            <a:r>
              <a:rPr lang="en-US" sz="4000" b="1" dirty="0"/>
              <a:t>Dr. </a:t>
            </a:r>
            <a:r>
              <a:rPr lang="en-US" sz="4000" b="1" dirty="0" err="1"/>
              <a:t>Anjula</a:t>
            </a:r>
            <a:r>
              <a:rPr lang="en-US" sz="4000" b="1" dirty="0"/>
              <a:t> </a:t>
            </a:r>
            <a:r>
              <a:rPr lang="en-US" sz="4000" b="1" dirty="0" err="1"/>
              <a:t>Mehto</a:t>
            </a:r>
            <a:endParaRPr lang="en-US" sz="4000" b="1" dirty="0"/>
          </a:p>
          <a:p>
            <a:pPr algn="ctr"/>
            <a:r>
              <a:rPr lang="en-US" sz="4000" b="1" dirty="0"/>
              <a:t>Assistant Professor</a:t>
            </a:r>
          </a:p>
          <a:p>
            <a:pPr algn="ctr"/>
            <a:r>
              <a:rPr lang="en-US" sz="4000" b="1" dirty="0" err="1"/>
              <a:t>Thapar</a:t>
            </a:r>
            <a:r>
              <a:rPr lang="en-US" sz="4000" b="1" dirty="0"/>
              <a:t> Institute of Engineering and Technology, </a:t>
            </a:r>
          </a:p>
          <a:p>
            <a:pPr algn="ctr"/>
            <a:r>
              <a:rPr lang="en-US" sz="4000" b="1" dirty="0"/>
              <a:t>Patiala, Punjab</a:t>
            </a:r>
          </a:p>
          <a:p>
            <a:pPr algn="ctr"/>
            <a:r>
              <a:rPr lang="en-US" sz="4000" b="1" dirty="0"/>
              <a:t>Email-anjula.mehto@thapar.edu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64ED-C873-D151-64BD-B9454C983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442"/>
            <a:ext cx="8229600" cy="1143000"/>
          </a:xfrm>
        </p:spPr>
        <p:txBody>
          <a:bodyPr/>
          <a:lstStyle/>
          <a:p>
            <a:r>
              <a:rPr lang="en-US" b="1" dirty="0"/>
              <a:t>Sampling</a:t>
            </a:r>
          </a:p>
        </p:txBody>
      </p:sp>
      <p:pic>
        <p:nvPicPr>
          <p:cNvPr id="1026" name="Picture 2" descr="A Comprehensive Guide to Confidence Intervals | by Harsh ...">
            <a:extLst>
              <a:ext uri="{FF2B5EF4-FFF2-40B4-BE49-F238E27FC236}">
                <a16:creationId xmlns:a16="http://schemas.microsoft.com/office/drawing/2014/main" id="{29953555-F41E-C8AA-5CAE-ACFE19DD33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97606"/>
            <a:ext cx="4378868" cy="472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4217FE-1BFA-8658-B758-223054AF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754DB-8C14-4A50-A02C-24A30BC0C39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219200"/>
          </a:xfrm>
        </p:spPr>
        <p:txBody>
          <a:bodyPr>
            <a:normAutofit/>
          </a:bodyPr>
          <a:lstStyle/>
          <a:p>
            <a:r>
              <a:rPr lang="en-US" sz="4800" b="1" dirty="0"/>
              <a:t>Sampling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486429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7" name="Picture 3" descr="D:\Thapar\PREDICTIVE ANALYTICS USING STATISTICS\Lectures\im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00213"/>
            <a:ext cx="8458200" cy="42433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08038"/>
          </a:xfrm>
        </p:spPr>
        <p:txBody>
          <a:bodyPr>
            <a:normAutofit/>
          </a:bodyPr>
          <a:lstStyle/>
          <a:p>
            <a:r>
              <a:rPr lang="en-US" sz="4800" b="1" dirty="0"/>
              <a:t>Sampling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905000"/>
            <a:ext cx="8610600" cy="4572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process used in statistical analysis.</a:t>
            </a:r>
          </a:p>
          <a:p>
            <a:pPr algn="just"/>
            <a:r>
              <a:rPr lang="en-US" sz="2800" dirty="0"/>
              <a:t> Process of selecting a portion or subset (sample) of the population to represent the entire population.</a:t>
            </a:r>
          </a:p>
          <a:p>
            <a:pPr algn="just"/>
            <a:r>
              <a:rPr lang="en-US" sz="2800" dirty="0"/>
              <a:t>Sample- A representative subset of a population. </a:t>
            </a:r>
          </a:p>
          <a:p>
            <a:pPr algn="just"/>
            <a:r>
              <a:rPr lang="en-US" sz="2800" dirty="0"/>
              <a:t>Goal of sampling is to create a representative and efficient subset that preserves the characteristics of the overall dataset. </a:t>
            </a:r>
          </a:p>
          <a:p>
            <a:endParaRPr lang="en-US" sz="36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Find the average height of all adults in this class.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Find the average height of all adult females in Patiala.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098" name="Picture 2" descr="D:\Thapar\PREDICTIVE ANALYTICS USING STATISTICS\High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4038600"/>
            <a:ext cx="4284383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Surveys  and Opinion Polls: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 descr="D:\Thapar\PREDICTIVE ANALYTICS USING STATISTICS\Lectures\Sand 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590800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Medical Studies: </a:t>
            </a:r>
          </a:p>
          <a:p>
            <a:r>
              <a:rPr lang="en-US" sz="3200" dirty="0"/>
              <a:t>Sampling a group of patients to study the effectiveness of a new treatment.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1" name="Picture 3" descr="D:\Thapar\PREDICTIVE ANALYTICS USING STATISTICS\Lectures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352800"/>
            <a:ext cx="5129213" cy="2619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>
              <a:buNone/>
            </a:pPr>
            <a:r>
              <a:rPr lang="en-US" sz="3200" dirty="0"/>
              <a:t>Agriculture: </a:t>
            </a:r>
          </a:p>
          <a:p>
            <a:r>
              <a:rPr lang="en-US" sz="3200" dirty="0"/>
              <a:t>Sampling crops to determine their yield and quality.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 descr="D:\Thapar\PREDICTIVE ANALYTICS USING STATISTICS\Lectures\1_1920х600-e167050952773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248025"/>
            <a:ext cx="8382000" cy="2619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89038"/>
          </a:xfrm>
        </p:spPr>
        <p:txBody>
          <a:bodyPr>
            <a:normAutofit/>
          </a:bodyPr>
          <a:lstStyle/>
          <a:p>
            <a:r>
              <a:rPr lang="en-US" b="1" dirty="0"/>
              <a:t>Steps Involved in Sampling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Diagram 4"/>
          <p:cNvGraphicFramePr/>
          <p:nvPr/>
        </p:nvGraphicFramePr>
        <p:xfrm>
          <a:off x="685800" y="1397000"/>
          <a:ext cx="73914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Steps Involved in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>
              <a:buNone/>
            </a:pPr>
            <a:r>
              <a:rPr lang="en-US" sz="3200" dirty="0"/>
              <a:t>1. Define Target Population: </a:t>
            </a:r>
          </a:p>
          <a:p>
            <a:pPr lvl="1"/>
            <a:r>
              <a:rPr lang="en-US" sz="3200" dirty="0"/>
              <a:t>Based on the objective of the study, clearly target the population.</a:t>
            </a:r>
          </a:p>
          <a:p>
            <a:pPr lvl="1"/>
            <a:r>
              <a:rPr lang="en-US" sz="3200" dirty="0"/>
              <a:t>Example- For regional election, the target population would be all people who are domiciled in the region and eligible to vote.</a:t>
            </a:r>
          </a:p>
          <a:p>
            <a:pPr lvl="1"/>
            <a:endParaRPr lang="en-US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Steps Involved in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2. Define Sampling Frame:</a:t>
            </a:r>
          </a:p>
          <a:p>
            <a:pPr lvl="1"/>
            <a:r>
              <a:rPr lang="en-US" sz="3000" dirty="0"/>
              <a:t>A subset of the population that defines the pool from which a sample to be selected.</a:t>
            </a:r>
          </a:p>
          <a:p>
            <a:pPr lvl="1"/>
            <a:r>
              <a:rPr lang="en-US" sz="3000" dirty="0"/>
              <a:t>Example- The sampling frame would consist of all the people from the population who are in the state and can participate in the study.</a:t>
            </a:r>
          </a:p>
          <a:p>
            <a:pPr>
              <a:buNone/>
            </a:pPr>
            <a:r>
              <a:rPr lang="en-US" sz="3200" dirty="0"/>
              <a:t>3. Select Sampling Technique:</a:t>
            </a:r>
          </a:p>
          <a:p>
            <a:pPr lvl="1"/>
            <a:r>
              <a:rPr lang="en-US" sz="3000" dirty="0"/>
              <a:t>Select an appropriate sampling technique.</a:t>
            </a:r>
          </a:p>
          <a:p>
            <a:pPr lvl="1"/>
            <a:r>
              <a:rPr lang="en-US" sz="3000" dirty="0"/>
              <a:t>Which sampling technique to use? (discuss later )</a:t>
            </a:r>
          </a:p>
          <a:p>
            <a:pPr lvl="1">
              <a:buNone/>
            </a:pPr>
            <a:endParaRPr lang="en-US" sz="2800" dirty="0"/>
          </a:p>
          <a:p>
            <a:pPr lvl="1"/>
            <a:endParaRPr lang="en-US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Steps Involved in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>
              <a:buNone/>
            </a:pPr>
            <a:r>
              <a:rPr lang="en-US" sz="3200" dirty="0"/>
              <a:t>4. Determine Sample Size:</a:t>
            </a:r>
          </a:p>
          <a:p>
            <a:pPr lvl="1"/>
            <a:r>
              <a:rPr lang="en-US" sz="3000" dirty="0"/>
              <a:t>Refers to the number of items or elements selected from sample frame.</a:t>
            </a:r>
          </a:p>
          <a:p>
            <a:pPr lvl="1"/>
            <a:r>
              <a:rPr lang="en-US" sz="3000" dirty="0"/>
              <a:t>If the sample size is too small, the sample may not accurately represent the population.</a:t>
            </a:r>
          </a:p>
          <a:p>
            <a:pPr lvl="1"/>
            <a:r>
              <a:rPr lang="en-US" sz="3000" dirty="0"/>
              <a:t>If the sample size is too large, it can be inefficient and time-consuming to collect and analyze the data.</a:t>
            </a:r>
          </a:p>
          <a:p>
            <a:pPr lvl="1">
              <a:buNone/>
            </a:pP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Steps Involved in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The appropriate sample size depends on factors such as:</a:t>
            </a:r>
          </a:p>
          <a:p>
            <a:pPr lvl="1"/>
            <a:r>
              <a:rPr lang="en-US" sz="3000" dirty="0"/>
              <a:t> The size of the population</a:t>
            </a:r>
          </a:p>
          <a:p>
            <a:pPr lvl="1"/>
            <a:r>
              <a:rPr lang="en-US" sz="3000" dirty="0"/>
              <a:t>The confidence level and </a:t>
            </a:r>
          </a:p>
          <a:p>
            <a:pPr lvl="1"/>
            <a:r>
              <a:rPr lang="en-US" sz="3000" dirty="0"/>
              <a:t>The margin of error</a:t>
            </a:r>
          </a:p>
          <a:p>
            <a:pPr>
              <a:buFont typeface="Wingdings" pitchFamily="2" charset="2"/>
              <a:buChar char="Ø"/>
            </a:pPr>
            <a:r>
              <a:rPr lang="en-US" sz="3000" b="1" dirty="0"/>
              <a:t>Confidence level-: </a:t>
            </a:r>
            <a:r>
              <a:rPr lang="en-US" sz="2800" dirty="0"/>
              <a:t>The probability that a sample is true for the entire population from which it was sampled.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Commonly expressed as a percentage and represents the likelihood that a parameter (such as a mean, proportion, or regression coefficient) falls within a specified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Steps Involved in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/>
          </a:bodyPr>
          <a:lstStyle/>
          <a:p>
            <a:endParaRPr lang="en-US" sz="3000" dirty="0"/>
          </a:p>
          <a:p>
            <a:pPr marL="274320" lvl="1" indent="-274320">
              <a:buClr>
                <a:schemeClr val="accent3"/>
              </a:buClr>
              <a:buSzPct val="95000"/>
              <a:buFont typeface="Wingdings" pitchFamily="2" charset="2"/>
              <a:buChar char="Ø"/>
            </a:pPr>
            <a:r>
              <a:rPr lang="en-US" sz="3000" b="1" dirty="0"/>
              <a:t>The margin of error-: </a:t>
            </a:r>
            <a:r>
              <a:rPr lang="en-US" sz="2800" b="1" dirty="0"/>
              <a:t>T</a:t>
            </a:r>
            <a:r>
              <a:rPr lang="en-US" sz="2800" dirty="0"/>
              <a:t>he margin of error is a range of values above and below the actual results from a survey.</a:t>
            </a:r>
          </a:p>
          <a:p>
            <a:pPr marL="274320" lvl="1" indent="-274320">
              <a:buClr>
                <a:schemeClr val="accent3"/>
              </a:buClr>
              <a:buSzPct val="95000"/>
              <a:buFont typeface="Wingdings" pitchFamily="2" charset="2"/>
              <a:buChar char="Ø"/>
            </a:pPr>
            <a:endParaRPr lang="en-US" sz="2800" dirty="0"/>
          </a:p>
          <a:p>
            <a:pPr marL="274320" lvl="1" indent="-274320">
              <a:buClr>
                <a:schemeClr val="accent3"/>
              </a:buClr>
              <a:buSzPct val="95000"/>
              <a:buFont typeface="Wingdings" pitchFamily="2" charset="2"/>
              <a:buChar char="Ø"/>
            </a:pPr>
            <a:r>
              <a:rPr lang="en-US" sz="2800" dirty="0"/>
              <a:t>If confidence level is 95% then margin of error is 5%.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Steps Involved in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>
              <a:buNone/>
            </a:pPr>
            <a:r>
              <a:rPr lang="en-US" sz="3000" dirty="0"/>
              <a:t>5. </a:t>
            </a:r>
            <a:r>
              <a:rPr lang="en-US" sz="3200" dirty="0"/>
              <a:t>Data collection:</a:t>
            </a:r>
          </a:p>
          <a:p>
            <a:pPr lvl="1"/>
            <a:r>
              <a:rPr lang="en-US" sz="3000" dirty="0"/>
              <a:t>Once the sample has been selected, the next step is to collect data from the sample.</a:t>
            </a:r>
          </a:p>
          <a:p>
            <a:pPr>
              <a:buNone/>
            </a:pP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Types of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200" dirty="0">
                <a:highlight>
                  <a:srgbClr val="FFFF00"/>
                </a:highlight>
              </a:rPr>
              <a:t>Probabilistic Sampling</a:t>
            </a:r>
          </a:p>
          <a:p>
            <a:r>
              <a:rPr lang="en-US" sz="3200" dirty="0"/>
              <a:t>Non-probabilistic Sampling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656698"/>
              </p:ext>
            </p:extLst>
          </p:nvPr>
        </p:nvGraphicFramePr>
        <p:xfrm>
          <a:off x="685800" y="3124200"/>
          <a:ext cx="70866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326">
                <a:tc>
                  <a:txBody>
                    <a:bodyPr/>
                    <a:lstStyle/>
                    <a:p>
                      <a:r>
                        <a:rPr lang="en-US" dirty="0"/>
                        <a:t>Probabilistic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Non-probabilistic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674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Individuals are selected randomly.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Selection is based on accessibility or the researcher's judgment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2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Bias: Probability sampling is less prone to bias due to its random nature.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en-US" sz="18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Bias: Non-probability sampling can be more prone to</a:t>
                      </a:r>
                      <a:r>
                        <a:rPr kumimoji="0" lang="en-US" sz="1800" b="0" i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bias.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kumimoji="0" lang="en-US" sz="1800" b="0" i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5400" b="1" dirty="0"/>
              <a:t>Probabilistic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endParaRPr lang="en-US" dirty="0"/>
          </a:p>
          <a:p>
            <a:r>
              <a:rPr lang="en-US" sz="3200" dirty="0"/>
              <a:t>Simple Random Sampling</a:t>
            </a:r>
          </a:p>
          <a:p>
            <a:r>
              <a:rPr lang="en-US" sz="3200" dirty="0"/>
              <a:t>Systematic Sampling</a:t>
            </a:r>
          </a:p>
          <a:p>
            <a:r>
              <a:rPr lang="en-US" sz="3200" dirty="0"/>
              <a:t>Stratified Sampling</a:t>
            </a:r>
          </a:p>
          <a:p>
            <a:r>
              <a:rPr lang="en-US" sz="3200" dirty="0"/>
              <a:t>Cluster Sampling</a:t>
            </a:r>
          </a:p>
          <a:p>
            <a:r>
              <a:rPr lang="en-US" sz="3200" dirty="0"/>
              <a:t>Cross-Validation</a:t>
            </a:r>
          </a:p>
          <a:p>
            <a:r>
              <a:rPr lang="en-US" sz="3200" dirty="0"/>
              <a:t>Bootstrap Sampling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34CD-DAA7-8DEF-2E8D-51846809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D9B6-C81A-E174-9704-659D76EF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5400" dirty="0"/>
              <a:t>Non-probabilistic Sampling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153A5DC-7586-E52D-8703-7DCA6296E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970919"/>
              </p:ext>
            </p:extLst>
          </p:nvPr>
        </p:nvGraphicFramePr>
        <p:xfrm>
          <a:off x="2286000" y="1737360"/>
          <a:ext cx="3781425" cy="3383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86100045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17129258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Common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1680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Convenience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Classroom surveys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3111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Purposive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Expert studies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7122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Quota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Market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976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Snowball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Hidden populations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3707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Volunteer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Online polls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05290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Consecutive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Medical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0094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02E91-593F-6C04-6815-76F18CF17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22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Simple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Pick the sample, at random. </a:t>
            </a:r>
            <a:endParaRPr lang="en-US" sz="2800" dirty="0">
              <a:solidFill>
                <a:schemeClr val="accent2"/>
              </a:solidFill>
              <a:latin typeface="Comic Sans MS" pitchFamily="66" charset="0"/>
            </a:endParaRPr>
          </a:p>
          <a:p>
            <a:r>
              <a:rPr lang="en-US" sz="2800" dirty="0"/>
              <a:t>Applicable when population is small, and homogeneous.</a:t>
            </a:r>
          </a:p>
          <a:p>
            <a:r>
              <a:rPr lang="en-US" sz="2800" dirty="0"/>
              <a:t>Every participant has an equal probability of being selected</a:t>
            </a:r>
          </a:p>
          <a:p>
            <a:r>
              <a:rPr lang="en-US" sz="2800" dirty="0"/>
              <a:t>Example- I want to ask a question in this class, then I can randomly pick any student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3" descr="D:\Thapar\PREDICTIVE ANALYTICS USING STATISTICS\Lectures\rando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4625009"/>
            <a:ext cx="4800600" cy="21567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Systematic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334000"/>
          </a:xfrm>
        </p:spPr>
        <p:txBody>
          <a:bodyPr>
            <a:normAutofit/>
          </a:bodyPr>
          <a:lstStyle/>
          <a:p>
            <a:r>
              <a:rPr lang="en-US" sz="3000" dirty="0"/>
              <a:t>The samples are chosen at regular intervals.</a:t>
            </a:r>
          </a:p>
          <a:p>
            <a:r>
              <a:rPr lang="en-US" sz="3000" dirty="0"/>
              <a:t>A random start and then proceeds with the selection of every ‘</a:t>
            </a:r>
            <a:r>
              <a:rPr lang="en-US" sz="3000" dirty="0" err="1"/>
              <a:t>kth</a:t>
            </a:r>
            <a:r>
              <a:rPr lang="en-US" sz="3000" dirty="0"/>
              <a:t>’ element. </a:t>
            </a:r>
          </a:p>
          <a:p>
            <a:r>
              <a:rPr lang="en-US" sz="3000" dirty="0"/>
              <a:t>Example- Select every 10th name from the telephone directory.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4098" name="Picture 2" descr="D:\Thapar\PREDICTIVE ANALYTICS USING STATISTICS\Lectures\sta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4038600"/>
            <a:ext cx="4343400" cy="259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Stratified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4953000"/>
          </a:xfrm>
        </p:spPr>
        <p:txBody>
          <a:bodyPr>
            <a:normAutofit/>
          </a:bodyPr>
          <a:lstStyle/>
          <a:p>
            <a:r>
              <a:rPr lang="en-US" sz="3000" dirty="0"/>
              <a:t>The population is divided into subgroups or strata based on a certain characteristic or criterion (age groups, ethnic origin, and gender).</a:t>
            </a:r>
          </a:p>
          <a:p>
            <a:r>
              <a:rPr lang="en-US" sz="3000" dirty="0"/>
              <a:t>Each stratum is then sampled as an independent sub-population. </a:t>
            </a:r>
          </a:p>
          <a:p>
            <a:r>
              <a:rPr lang="en-US" sz="3000" dirty="0"/>
              <a:t>Individual elements from a sub-population can be randomly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Stratified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Example-</a:t>
            </a:r>
          </a:p>
          <a:p>
            <a:r>
              <a:rPr lang="en-US" sz="2800" dirty="0"/>
              <a:t>If a company has 500 male employees and 100 female employees.</a:t>
            </a:r>
          </a:p>
          <a:p>
            <a:r>
              <a:rPr lang="en-US" sz="2800" dirty="0"/>
              <a:t>To ensure that the sample reflects the gender as well, use stratified sampling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78" descr="1_St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57300" y="4016375"/>
            <a:ext cx="7086600" cy="2155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Stratified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334000"/>
          </a:xfrm>
        </p:spPr>
        <p:txBody>
          <a:bodyPr>
            <a:normAutofit/>
          </a:bodyPr>
          <a:lstStyle/>
          <a:p>
            <a:pPr lvl="1"/>
            <a:r>
              <a:rPr lang="en-US" sz="3000" dirty="0"/>
              <a:t>Requires prior knowledge</a:t>
            </a:r>
          </a:p>
          <a:p>
            <a:pPr lvl="1"/>
            <a:r>
              <a:rPr lang="en-US" sz="3000" dirty="0"/>
              <a:t>Can be complex</a:t>
            </a:r>
          </a:p>
          <a:p>
            <a:pPr lvl="1"/>
            <a:r>
              <a:rPr lang="en-US" sz="3000" dirty="0"/>
              <a:t>Can be time-consuming</a:t>
            </a:r>
            <a:endParaRPr lang="en-US" sz="3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Cluster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 The entire population is divided into smaller groups or clusters, and then a random sample of these clusters is selected. </a:t>
            </a:r>
          </a:p>
          <a:p>
            <a:r>
              <a:rPr lang="en-US" sz="2800" dirty="0"/>
              <a:t>The sample size is then determined based on the number of clusters selected.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2" descr="D:\Thapar\PREDICTIVE ANALYTICS USING STATISTICS\Lectures\clust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3724275"/>
            <a:ext cx="5257800" cy="2905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Sample a population of 10,000 schools to estimate the average number of students per school. </a:t>
            </a:r>
          </a:p>
          <a:p>
            <a:r>
              <a:rPr lang="en-US" sz="2800" dirty="0"/>
              <a:t>Divide the schools into smaller groups or clusters based on geographical locations, for example, schools in each state.</a:t>
            </a:r>
          </a:p>
          <a:p>
            <a:r>
              <a:rPr lang="en-US" sz="2800" dirty="0"/>
              <a:t> Now, instead of visiting all 10,000 schools, select a random sample of 5 states, and visit all the schools within those 5 states. </a:t>
            </a:r>
          </a:p>
          <a:p>
            <a:r>
              <a:rPr lang="en-US" sz="2800" dirty="0"/>
              <a:t>The data collected from the schools within the 5 selected states will then be used to estimate the average number of students per school for the entire population of 10,000 schools.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Cluster Vs Stratified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The main difference between these two methods is how the sample is selected.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146" name="Picture 2" descr="D:\Thapar\PREDICTIVE ANALYTICS USING STATISTICS\Lectures\maxresdefaul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438400"/>
            <a:ext cx="7721598" cy="43433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Cross-Validation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51054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Dividing the dataset into multiple folds, training the model on some folds, and testing it on others. </a:t>
            </a:r>
          </a:p>
          <a:p>
            <a:pPr algn="just"/>
            <a:r>
              <a:rPr lang="en-US" sz="2800" dirty="0"/>
              <a:t>This helps in assessing how well the model generalizes to new data.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K-Fold Cross-Validation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46177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K-fold cross-validation</a:t>
            </a:r>
            <a:r>
              <a:rPr lang="en-US" sz="3200" dirty="0"/>
              <a:t> 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26" name="Picture 2" descr="D:\Thapar\PREDICTIVE ANALYTICS USING STATISTICS\Lectures\K-fold-cross-validation-metho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6263" y="2286000"/>
            <a:ext cx="7991475" cy="4267200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b="1" dirty="0"/>
              <a:t>K-fold Cross-Validation</a:t>
            </a:r>
            <a:r>
              <a:rPr lang="en-US" sz="5400" dirty="0"/>
              <a:t> 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5029200"/>
          </a:xfrm>
        </p:spPr>
        <p:txBody>
          <a:bodyPr>
            <a:normAutofit/>
          </a:bodyPr>
          <a:lstStyle/>
          <a:p>
            <a:r>
              <a:rPr lang="en-US" sz="3200" dirty="0"/>
              <a:t>The original dataset is divided into ‘k’ subsets or folds of roughly equal size. </a:t>
            </a:r>
          </a:p>
          <a:p>
            <a:r>
              <a:rPr lang="en-US" sz="3200" dirty="0"/>
              <a:t>The model is trained on ‘k-1’ folds.</a:t>
            </a:r>
          </a:p>
          <a:p>
            <a:r>
              <a:rPr lang="en-US" sz="3200" dirty="0"/>
              <a:t>The model is validated on the remaining fold.</a:t>
            </a:r>
          </a:p>
          <a:p>
            <a:r>
              <a:rPr lang="en-US" sz="3200" dirty="0"/>
              <a:t> This process is repeated ‘k’ times so that each fold is used for validation once.</a:t>
            </a:r>
          </a:p>
          <a:p>
            <a:r>
              <a:rPr lang="en-US" sz="3200" dirty="0"/>
              <a:t> The average performance across all ‘k’ iterations is used to evaluate the model's overall performance.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Bootstrap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334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It uses the technique of Simple Random Sampling With Replacement (SRSWR). </a:t>
            </a:r>
          </a:p>
          <a:p>
            <a:pPr algn="just"/>
            <a:r>
              <a:rPr lang="en-US" sz="2800" dirty="0"/>
              <a:t>It randomly picks data instances from the input dataset , with the possibility of the same data instance picked multiple times.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26" name="Picture 2" descr="C:\Users\Anjula Mehto\Dropbox\PC\Downloads\b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733800"/>
            <a:ext cx="5638800" cy="2924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b="1" dirty="0"/>
              <a:t>Bootstrap </a:t>
            </a:r>
            <a:r>
              <a:rPr lang="en-US" b="1" dirty="0" err="1"/>
              <a:t>vs</a:t>
            </a:r>
            <a:r>
              <a:rPr lang="en-US" b="1" dirty="0"/>
              <a:t>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Bootstrap sampling is a resampling technique used for statistical inference and assessing variability.</a:t>
            </a:r>
          </a:p>
          <a:p>
            <a:r>
              <a:rPr lang="en-US" sz="2800" dirty="0"/>
              <a:t>Simple random sampling is a classic method for obtaining a representative subset from a population for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Which Sampling Technique to Use 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752600"/>
            <a:ext cx="8382000" cy="5029200"/>
          </a:xfrm>
        </p:spPr>
        <p:txBody>
          <a:bodyPr>
            <a:normAutofit/>
          </a:bodyPr>
          <a:lstStyle/>
          <a:p>
            <a:r>
              <a:rPr lang="en-US" sz="3200" dirty="0"/>
              <a:t>Size of the data set:</a:t>
            </a:r>
          </a:p>
          <a:p>
            <a:pPr lvl="1"/>
            <a:r>
              <a:rPr lang="en-US" sz="3000" dirty="0"/>
              <a:t>Small data sets- </a:t>
            </a:r>
            <a:r>
              <a:rPr lang="en-US" sz="3000" dirty="0">
                <a:solidFill>
                  <a:srgbClr val="FF0000"/>
                </a:solidFill>
              </a:rPr>
              <a:t>Simple random sampling </a:t>
            </a:r>
            <a:r>
              <a:rPr lang="en-US" sz="3000" dirty="0"/>
              <a:t>or </a:t>
            </a:r>
            <a:r>
              <a:rPr lang="en-US" sz="3000" dirty="0">
                <a:solidFill>
                  <a:srgbClr val="FF0000"/>
                </a:solidFill>
              </a:rPr>
              <a:t>Systematic Sampling.</a:t>
            </a:r>
          </a:p>
          <a:p>
            <a:pPr lvl="1"/>
            <a:r>
              <a:rPr lang="en-US" sz="3200" dirty="0"/>
              <a:t>Large data sets- May use a more complex technique like </a:t>
            </a:r>
            <a:r>
              <a:rPr lang="en-US" sz="3200" dirty="0">
                <a:solidFill>
                  <a:srgbClr val="FF0000"/>
                </a:solidFill>
              </a:rPr>
              <a:t>Stratified sampling or Cluster sampling</a:t>
            </a:r>
            <a:r>
              <a:rPr lang="en-US" sz="3200" dirty="0"/>
              <a:t>.</a:t>
            </a:r>
            <a:endParaRPr lang="en-US" sz="3000" dirty="0"/>
          </a:p>
          <a:p>
            <a:endParaRPr lang="en-US" sz="3200" dirty="0"/>
          </a:p>
          <a:p>
            <a:pPr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Which Sampling Technique to Use 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5029200"/>
          </a:xfrm>
        </p:spPr>
        <p:txBody>
          <a:bodyPr>
            <a:normAutofit/>
          </a:bodyPr>
          <a:lstStyle/>
          <a:p>
            <a:r>
              <a:rPr lang="en-US" sz="3200" dirty="0"/>
              <a:t>Nature of the data:</a:t>
            </a:r>
          </a:p>
          <a:p>
            <a:pPr lvl="1"/>
            <a:r>
              <a:rPr lang="en-US" sz="3000" dirty="0"/>
              <a:t>For well-defined structured data, </a:t>
            </a:r>
            <a:r>
              <a:rPr lang="en-US" sz="3000" dirty="0">
                <a:solidFill>
                  <a:srgbClr val="FF0000"/>
                </a:solidFill>
              </a:rPr>
              <a:t>Stratified Sampling </a:t>
            </a:r>
            <a:r>
              <a:rPr lang="en-US" sz="3000" dirty="0"/>
              <a:t>may be a good choice. </a:t>
            </a:r>
          </a:p>
          <a:p>
            <a:pPr lvl="1"/>
            <a:r>
              <a:rPr lang="en-US" sz="3000" dirty="0"/>
              <a:t>While for more complex data sets, </a:t>
            </a:r>
            <a:r>
              <a:rPr lang="en-US" sz="3000" dirty="0">
                <a:solidFill>
                  <a:srgbClr val="FF0000"/>
                </a:solidFill>
              </a:rPr>
              <a:t>Cluster or Systematic  Sampling</a:t>
            </a:r>
            <a:r>
              <a:rPr lang="en-US" sz="3000" dirty="0"/>
              <a:t> may be better.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Which Sampling Technique to Use 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5029200"/>
          </a:xfrm>
        </p:spPr>
        <p:txBody>
          <a:bodyPr>
            <a:normAutofit/>
          </a:bodyPr>
          <a:lstStyle/>
          <a:p>
            <a:r>
              <a:rPr lang="en-US" sz="3200" dirty="0"/>
              <a:t>Cost and feasibility: </a:t>
            </a:r>
          </a:p>
          <a:p>
            <a:r>
              <a:rPr lang="en-US" sz="3200" dirty="0">
                <a:solidFill>
                  <a:srgbClr val="FF0000"/>
                </a:solidFill>
              </a:rPr>
              <a:t>Simple random sampling </a:t>
            </a:r>
            <a:r>
              <a:rPr lang="en-US" sz="3200" dirty="0"/>
              <a:t>may be the most straightforward and cost-effective.</a:t>
            </a:r>
          </a:p>
          <a:p>
            <a:r>
              <a:rPr lang="en-US" sz="3200" dirty="0"/>
              <a:t>While more complex techniques like </a:t>
            </a:r>
            <a:r>
              <a:rPr lang="en-US" sz="3200" dirty="0">
                <a:solidFill>
                  <a:srgbClr val="FF0000"/>
                </a:solidFill>
              </a:rPr>
              <a:t>Cluster or Stratified sampling</a:t>
            </a:r>
            <a:r>
              <a:rPr lang="en-US" sz="3200" dirty="0"/>
              <a:t> may be more expensive and require more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Why need Sampling?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3200" dirty="0"/>
              <a:t>Reduces computational cost. </a:t>
            </a:r>
          </a:p>
          <a:p>
            <a:r>
              <a:rPr lang="en-US" sz="3200" dirty="0"/>
              <a:t>Reduces processing time of the entire dataset.</a:t>
            </a:r>
          </a:p>
          <a:p>
            <a:r>
              <a:rPr lang="en-US" sz="3200" dirty="0"/>
              <a:t>Provides Balance class distribution or  treats imbalanced classes.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/>
              <a:t>Imbalanced 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617720"/>
          </a:xfrm>
        </p:spPr>
        <p:txBody>
          <a:bodyPr>
            <a:normAutofit/>
          </a:bodyPr>
          <a:lstStyle/>
          <a:p>
            <a:r>
              <a:rPr lang="en-US" sz="3000" dirty="0"/>
              <a:t>Example: To detect fraudulent credit card transactions.</a:t>
            </a:r>
          </a:p>
          <a:p>
            <a:r>
              <a:rPr lang="en-US" sz="3000" dirty="0"/>
              <a:t>Suppose your model gives 94% accuracy.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122" name="Picture 2" descr="D:\Thapar\PREDICTIVE ANALYTICS USING STATISTICS\Lectures\1_GkhP_fliGHcijoiyp0I4W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7337" y="3221940"/>
            <a:ext cx="5376863" cy="3331260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/>
              <a:t>Imbalanced 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4617720"/>
          </a:xfrm>
        </p:spPr>
        <p:txBody>
          <a:bodyPr>
            <a:normAutofit/>
          </a:bodyPr>
          <a:lstStyle/>
          <a:p>
            <a:r>
              <a:rPr lang="en-US" sz="3000" dirty="0"/>
              <a:t>Unfortunately, that accuracy (94%) is misleading:</a:t>
            </a:r>
          </a:p>
          <a:p>
            <a:pPr lvl="1"/>
            <a:r>
              <a:rPr lang="en-US" sz="3000" dirty="0"/>
              <a:t>All those </a:t>
            </a:r>
            <a:r>
              <a:rPr lang="en-US" sz="3000" b="1" dirty="0"/>
              <a:t>non-fraudulent</a:t>
            </a:r>
            <a:r>
              <a:rPr lang="en-US" sz="3000" dirty="0"/>
              <a:t> transactions, would have “100%” accuracy.</a:t>
            </a:r>
          </a:p>
          <a:p>
            <a:pPr lvl="1"/>
            <a:r>
              <a:rPr lang="en-US" sz="3000" dirty="0"/>
              <a:t>Those transactions which are </a:t>
            </a:r>
            <a:r>
              <a:rPr lang="en-US" sz="3000" b="1" dirty="0"/>
              <a:t>fraudulent</a:t>
            </a:r>
            <a:r>
              <a:rPr lang="en-US" sz="3000" dirty="0"/>
              <a:t>, would have “0%” accuracy.</a:t>
            </a:r>
          </a:p>
          <a:p>
            <a:pPr lvl="1"/>
            <a:r>
              <a:rPr lang="en-US" sz="3000" dirty="0"/>
              <a:t>Your overall </a:t>
            </a:r>
            <a:r>
              <a:rPr lang="en-US" sz="3000" b="1" dirty="0"/>
              <a:t>accuracy would be high</a:t>
            </a:r>
            <a:r>
              <a:rPr lang="en-US" sz="3000" dirty="0"/>
              <a:t> simply because the most transaction is not fraudulent.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1143000"/>
          </a:xfrm>
        </p:spPr>
        <p:txBody>
          <a:bodyPr>
            <a:normAutofit/>
          </a:bodyPr>
          <a:lstStyle/>
          <a:p>
            <a:r>
              <a:rPr lang="en-US" b="1" dirty="0"/>
              <a:t>How to Balance Class Distribution?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706880"/>
            <a:ext cx="8382000" cy="4617720"/>
          </a:xfrm>
        </p:spPr>
        <p:txBody>
          <a:bodyPr>
            <a:normAutofit/>
          </a:bodyPr>
          <a:lstStyle/>
          <a:p>
            <a:r>
              <a:rPr lang="en-US" sz="3200" dirty="0"/>
              <a:t>Use techniques such as oversampling the minority class or </a:t>
            </a:r>
          </a:p>
          <a:p>
            <a:r>
              <a:rPr lang="en-US" sz="3200" dirty="0"/>
              <a:t>Use </a:t>
            </a:r>
            <a:r>
              <a:rPr lang="en-US" sz="3200" dirty="0" err="1"/>
              <a:t>undersampling</a:t>
            </a:r>
            <a:r>
              <a:rPr lang="en-US" sz="3200" dirty="0"/>
              <a:t> the majority class.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458200" cy="1143000"/>
          </a:xfrm>
        </p:spPr>
        <p:txBody>
          <a:bodyPr>
            <a:normAutofit/>
          </a:bodyPr>
          <a:lstStyle/>
          <a:p>
            <a:r>
              <a:rPr lang="en-US" b="1" dirty="0"/>
              <a:t>How to Balance Class Distribution?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46177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 err="1"/>
              <a:t>Undersampling</a:t>
            </a:r>
            <a:r>
              <a:rPr lang="en-US" sz="3200" dirty="0"/>
              <a:t> and Oversampling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6146" name="Picture 2" descr="D:\Thapar\PREDICTIVE ANALYTICS USING STATISTICS\Lectures\OVerandund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0"/>
            <a:ext cx="8153400" cy="4495800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Central tendency measures:</a:t>
            </a:r>
          </a:p>
          <a:p>
            <a:pPr lvl="0"/>
            <a:r>
              <a:rPr lang="en-US" sz="3200" dirty="0"/>
              <a:t>Describe the center or middle of the sample data.</a:t>
            </a:r>
          </a:p>
          <a:p>
            <a:pPr lvl="0"/>
            <a:r>
              <a:rPr lang="en-US" sz="3200" dirty="0"/>
              <a:t>Common measures of central tendency include the </a:t>
            </a:r>
            <a:r>
              <a:rPr lang="en-US" sz="3200" dirty="0">
                <a:solidFill>
                  <a:srgbClr val="FF0000"/>
                </a:solidFill>
              </a:rPr>
              <a:t>mean, median, and mode.</a:t>
            </a:r>
          </a:p>
          <a:p>
            <a:pPr lvl="0">
              <a:buNone/>
            </a:pPr>
            <a:endParaRPr lang="en-US" sz="3200" dirty="0"/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Central tendency measures:</a:t>
            </a:r>
          </a:p>
          <a:p>
            <a:r>
              <a:rPr lang="en-US" sz="3200" dirty="0"/>
              <a:t>Example: Dataset- {1, 1, 1, 2, 2}</a:t>
            </a:r>
          </a:p>
          <a:p>
            <a:r>
              <a:rPr lang="en-US" sz="3200" dirty="0"/>
              <a:t>The mean:  (1 + 1 + 1 + 2 + 2) / 5 = 7 / 5 = 1.4</a:t>
            </a:r>
          </a:p>
          <a:p>
            <a:r>
              <a:rPr lang="en-US" sz="3200" dirty="0"/>
              <a:t>The mode: 1</a:t>
            </a:r>
          </a:p>
          <a:p>
            <a:r>
              <a:rPr lang="en-US" sz="3200" dirty="0"/>
              <a:t>The median: 1</a:t>
            </a:r>
          </a:p>
          <a:p>
            <a:pPr lvl="0"/>
            <a:r>
              <a:rPr lang="en-US" sz="3200" dirty="0"/>
              <a:t>Mean, Median, and Mode are similar, it indicates that the sample is representative of the population</a:t>
            </a:r>
            <a:endParaRPr lang="en-US" sz="3200" dirty="0">
              <a:solidFill>
                <a:srgbClr val="FF0000"/>
              </a:solidFill>
            </a:endParaRPr>
          </a:p>
          <a:p>
            <a:pPr lvl="0">
              <a:buNone/>
            </a:pPr>
            <a:endParaRPr lang="en-US" sz="3200" dirty="0"/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Dispersion measures:</a:t>
            </a:r>
          </a:p>
          <a:p>
            <a:r>
              <a:rPr lang="en-US" sz="3200" dirty="0"/>
              <a:t>Describe how spread out the sample data is.</a:t>
            </a:r>
          </a:p>
          <a:p>
            <a:r>
              <a:rPr lang="en-US" sz="3200" dirty="0"/>
              <a:t>Common measures of dispersion include </a:t>
            </a:r>
            <a:r>
              <a:rPr lang="en-US" sz="3200" dirty="0">
                <a:solidFill>
                  <a:srgbClr val="FF0000"/>
                </a:solidFill>
              </a:rPr>
              <a:t>range, variance, and standard deviation.</a:t>
            </a:r>
          </a:p>
          <a:p>
            <a:endParaRPr lang="en-US" sz="3200" dirty="0"/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Dispersion measures:</a:t>
            </a:r>
            <a:endParaRPr lang="en-US" sz="3200" dirty="0"/>
          </a:p>
          <a:p>
            <a:r>
              <a:rPr lang="en-US" sz="3200" dirty="0"/>
              <a:t>Example: Dataset- {1, 1, 1, 2, 2}</a:t>
            </a:r>
          </a:p>
          <a:p>
            <a:r>
              <a:rPr lang="en-US" sz="3200" dirty="0"/>
              <a:t>The range- 1</a:t>
            </a:r>
          </a:p>
          <a:p>
            <a:r>
              <a:rPr lang="en-US" sz="3200" dirty="0"/>
              <a:t>The variance: 1.6</a:t>
            </a:r>
          </a:p>
          <a:p>
            <a:r>
              <a:rPr lang="en-US" sz="3200" dirty="0"/>
              <a:t>The standard deviation: 0.6</a:t>
            </a:r>
          </a:p>
          <a:p>
            <a:r>
              <a:rPr lang="en-US" sz="3200" dirty="0"/>
              <a:t>The range, variance, and standard deviation are small, it indicates that the sample is tightly grouped and has a good dispersion</a:t>
            </a:r>
          </a:p>
          <a:p>
            <a:endParaRPr lang="en-US" sz="3200" dirty="0"/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E0340-C6D0-6AD1-DCC1-234E310926A5}"/>
              </a:ext>
            </a:extLst>
          </p:cNvPr>
          <p:cNvSpPr txBox="1"/>
          <p:nvPr/>
        </p:nvSpPr>
        <p:spPr>
          <a:xfrm>
            <a:off x="4800600" y="2590800"/>
            <a:ext cx="4620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Range=Maximum value−Minimum value</a:t>
            </a:r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Normality tests:</a:t>
            </a:r>
          </a:p>
          <a:p>
            <a:r>
              <a:rPr lang="en-US" sz="3200" dirty="0"/>
              <a:t>Checks whether the sample data follows a normal distribution. </a:t>
            </a:r>
          </a:p>
          <a:p>
            <a:pPr lvl="0"/>
            <a:r>
              <a:rPr lang="en-US" sz="3200" dirty="0"/>
              <a:t>Common normality tests include the </a:t>
            </a:r>
            <a:r>
              <a:rPr lang="en-US" sz="3200" dirty="0">
                <a:solidFill>
                  <a:srgbClr val="FF0000"/>
                </a:solidFill>
              </a:rPr>
              <a:t>Shapiro-</a:t>
            </a:r>
            <a:r>
              <a:rPr lang="en-US" sz="3200" dirty="0" err="1">
                <a:solidFill>
                  <a:srgbClr val="FF0000"/>
                </a:solidFill>
              </a:rPr>
              <a:t>Wilk</a:t>
            </a:r>
            <a:r>
              <a:rPr lang="en-US" sz="3200" dirty="0">
                <a:solidFill>
                  <a:srgbClr val="FF0000"/>
                </a:solidFill>
              </a:rPr>
              <a:t> test, and the Anderson-Darling test.</a:t>
            </a:r>
          </a:p>
          <a:p>
            <a:pPr lvl="0"/>
            <a:r>
              <a:rPr lang="en-US" sz="3200" dirty="0"/>
              <a:t>Both the tests can be implemented using the </a:t>
            </a:r>
            <a:r>
              <a:rPr lang="en-US" sz="3200" dirty="0" err="1">
                <a:solidFill>
                  <a:srgbClr val="FF0000"/>
                </a:solidFill>
              </a:rPr>
              <a:t>scipy.stats</a:t>
            </a:r>
            <a:r>
              <a:rPr lang="en-US" sz="3200" dirty="0">
                <a:solidFill>
                  <a:srgbClr val="FF0000"/>
                </a:solidFill>
              </a:rPr>
              <a:t> library </a:t>
            </a:r>
            <a:r>
              <a:rPr lang="en-US" sz="3200" dirty="0"/>
              <a:t>in Python.</a:t>
            </a:r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On the basis of type of dataset</a:t>
            </a:r>
          </a:p>
          <a:p>
            <a:r>
              <a:rPr lang="en-US" sz="3400" dirty="0"/>
              <a:t>Numerical data: </a:t>
            </a:r>
          </a:p>
          <a:p>
            <a:pPr lvl="1"/>
            <a:r>
              <a:rPr lang="en-US" sz="3400" dirty="0"/>
              <a:t>Can use </a:t>
            </a:r>
            <a:r>
              <a:rPr lang="en-US" sz="3400" dirty="0">
                <a:solidFill>
                  <a:srgbClr val="FF0000"/>
                </a:solidFill>
              </a:rPr>
              <a:t>measures of central tendency, dispersion, and normality.</a:t>
            </a:r>
          </a:p>
          <a:p>
            <a:r>
              <a:rPr lang="en-US" sz="3600" dirty="0"/>
              <a:t>Categorical data: </a:t>
            </a:r>
          </a:p>
          <a:p>
            <a:pPr lvl="1"/>
            <a:r>
              <a:rPr lang="en-US" sz="3400" dirty="0"/>
              <a:t>Can use measures such as </a:t>
            </a:r>
            <a:r>
              <a:rPr lang="en-US" sz="3400" dirty="0">
                <a:solidFill>
                  <a:srgbClr val="FF0000"/>
                </a:solidFill>
              </a:rPr>
              <a:t>relative frequencies or proportions.</a:t>
            </a:r>
            <a:endParaRPr lang="en-US" sz="3200" dirty="0">
              <a:solidFill>
                <a:srgbClr val="FF0000"/>
              </a:solidFill>
            </a:endParaRPr>
          </a:p>
          <a:p>
            <a:pPr lvl="1"/>
            <a:endParaRPr lang="en-US" sz="3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On the basis of type of dataset:</a:t>
            </a:r>
          </a:p>
          <a:p>
            <a:r>
              <a:rPr lang="en-US" sz="3400" dirty="0"/>
              <a:t>Time series data:</a:t>
            </a:r>
          </a:p>
          <a:p>
            <a:pPr lvl="1"/>
            <a:r>
              <a:rPr lang="en-US" sz="3400" dirty="0"/>
              <a:t>Can use measures such as </a:t>
            </a:r>
            <a:r>
              <a:rPr lang="en-US" sz="3400" dirty="0">
                <a:solidFill>
                  <a:srgbClr val="FF0000"/>
                </a:solidFill>
              </a:rPr>
              <a:t>autocorrelation and partial autocorrelation.</a:t>
            </a:r>
          </a:p>
          <a:p>
            <a:pPr lvl="1"/>
            <a:r>
              <a:rPr lang="en-US" sz="3400" b="1" dirty="0" err="1">
                <a:solidFill>
                  <a:srgbClr val="FF0000"/>
                </a:solidFill>
              </a:rPr>
              <a:t>statsmodels</a:t>
            </a:r>
            <a:r>
              <a:rPr lang="en-US" sz="3400" dirty="0"/>
              <a:t> library in Python provides functions to calculate these measures</a:t>
            </a:r>
            <a:r>
              <a:rPr lang="en-US" sz="3200" dirty="0"/>
              <a:t>.</a:t>
            </a:r>
          </a:p>
          <a:p>
            <a:pPr lvl="1"/>
            <a:r>
              <a:rPr lang="en-US" sz="3200" b="1" dirty="0">
                <a:solidFill>
                  <a:srgbClr val="FF0000"/>
                </a:solidFill>
              </a:rPr>
              <a:t>Autocorrelation- </a:t>
            </a:r>
            <a:r>
              <a:rPr lang="en-US" sz="3200" dirty="0"/>
              <a:t> Degree of correlation of the same variables between two successive time intervals.</a:t>
            </a:r>
            <a:endParaRPr lang="en-US" sz="3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On the basis of type of dataset:</a:t>
            </a:r>
          </a:p>
          <a:p>
            <a:r>
              <a:rPr lang="en-US" sz="3400" dirty="0"/>
              <a:t>Image or multimedia data:</a:t>
            </a:r>
          </a:p>
          <a:p>
            <a:pPr lvl="1"/>
            <a:r>
              <a:rPr lang="en-US" sz="3400" dirty="0"/>
              <a:t>Can use measures such as image quality metrics, such as </a:t>
            </a:r>
            <a:r>
              <a:rPr lang="en-US" sz="3400" dirty="0">
                <a:solidFill>
                  <a:srgbClr val="FF0000"/>
                </a:solidFill>
              </a:rPr>
              <a:t>mean squared error or structural similarity index.</a:t>
            </a:r>
          </a:p>
          <a:p>
            <a:pPr lvl="1"/>
            <a:r>
              <a:rPr lang="en-US" sz="3400" b="1" dirty="0" err="1">
                <a:solidFill>
                  <a:srgbClr val="FF0000"/>
                </a:solidFill>
              </a:rPr>
              <a:t>scikit</a:t>
            </a:r>
            <a:r>
              <a:rPr lang="en-US" sz="3400" b="1" dirty="0">
                <a:solidFill>
                  <a:srgbClr val="FF0000"/>
                </a:solidFill>
              </a:rPr>
              <a:t>-image</a:t>
            </a:r>
            <a:r>
              <a:rPr lang="en-US" sz="3400" dirty="0"/>
              <a:t> library in Python provides functions to calculate these metrics.</a:t>
            </a:r>
          </a:p>
          <a:p>
            <a:pPr lvl="1"/>
            <a:endParaRPr lang="en-US" sz="3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1. Suppose there is a dataset </a:t>
            </a:r>
          </a:p>
          <a:p>
            <a:pPr>
              <a:buNone/>
            </a:pPr>
            <a:r>
              <a:rPr lang="en-US" sz="3200" dirty="0"/>
              <a:t>[3, 1, 6, 2, 4, 4, 2, 0, 1, 6, 4, 6, 4, 5, 9, 6, 8, 9, 7, 7] with four samples: [6, 2, 2, 4, 9], [7, 2, 8, 2, 9], [7, 8, 9, 5, 4], [1, 2, 0, 1, 3], Which one is a good sample?)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029200"/>
          </a:xfrm>
        </p:spPr>
        <p:txBody>
          <a:bodyPr>
            <a:normAutofit/>
          </a:bodyPr>
          <a:lstStyle/>
          <a:p>
            <a:r>
              <a:rPr lang="en-US" sz="3200" dirty="0"/>
              <a:t>Range- Difference between the largest and smallest values.</a:t>
            </a:r>
          </a:p>
          <a:p>
            <a:r>
              <a:rPr lang="pt-BR" sz="3200" dirty="0"/>
              <a:t>Variance = (1 / (n - 1)) * ∑(x_i - x̄)^2</a:t>
            </a:r>
          </a:p>
          <a:p>
            <a:pPr lvl="1">
              <a:buNone/>
            </a:pPr>
            <a:r>
              <a:rPr lang="en-US" sz="3000" dirty="0"/>
              <a:t>where</a:t>
            </a:r>
          </a:p>
          <a:p>
            <a:pPr lvl="1">
              <a:buNone/>
            </a:pPr>
            <a:r>
              <a:rPr lang="en-US" sz="3000" dirty="0" err="1"/>
              <a:t>x_i</a:t>
            </a:r>
            <a:r>
              <a:rPr lang="en-US" sz="3000" dirty="0"/>
              <a:t> represents each individual data point, </a:t>
            </a:r>
          </a:p>
          <a:p>
            <a:pPr lvl="1">
              <a:buNone/>
            </a:pPr>
            <a:r>
              <a:rPr lang="en-US" sz="3000" dirty="0"/>
              <a:t>x̄ represents the sample mean, </a:t>
            </a:r>
          </a:p>
          <a:p>
            <a:pPr lvl="1">
              <a:buNone/>
            </a:pPr>
            <a:r>
              <a:rPr lang="en-US" sz="3000" dirty="0"/>
              <a:t>n data points in the sample</a:t>
            </a:r>
          </a:p>
          <a:p>
            <a:r>
              <a:rPr lang="en-US" sz="3200" dirty="0"/>
              <a:t>Standard Deviation- The square root of the variance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C00000"/>
                </a:solidFill>
              </a:rPr>
              <a:t>Samples 1: [6, 2, 2, 4, 9]</a:t>
            </a:r>
          </a:p>
          <a:p>
            <a:pPr>
              <a:buNone/>
            </a:pPr>
            <a:r>
              <a:rPr lang="en-US" sz="3200" dirty="0"/>
              <a:t>Sample Mean: 4.6 </a:t>
            </a:r>
          </a:p>
          <a:p>
            <a:pPr>
              <a:buNone/>
            </a:pPr>
            <a:r>
              <a:rPr lang="en-US" sz="3200" dirty="0"/>
              <a:t>Sample Median: 4.0 </a:t>
            </a:r>
          </a:p>
          <a:p>
            <a:pPr>
              <a:buNone/>
            </a:pPr>
            <a:r>
              <a:rPr lang="en-US" sz="3200" dirty="0"/>
              <a:t>Sample Mode: 2 </a:t>
            </a:r>
          </a:p>
          <a:p>
            <a:pPr>
              <a:buNone/>
            </a:pPr>
            <a:r>
              <a:rPr lang="en-US" sz="3200" dirty="0"/>
              <a:t>Sample Range: 7 </a:t>
            </a:r>
          </a:p>
          <a:p>
            <a:pPr>
              <a:buNone/>
            </a:pPr>
            <a:r>
              <a:rPr lang="en-US" sz="3200" dirty="0"/>
              <a:t>Sample Variance: 7.0</a:t>
            </a:r>
          </a:p>
          <a:p>
            <a:pPr>
              <a:buNone/>
            </a:pPr>
            <a:r>
              <a:rPr lang="en-US" sz="3200" dirty="0"/>
              <a:t>Sample Standard Deviation: 2.7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C00000"/>
                </a:solidFill>
              </a:rPr>
              <a:t>Samples 2: [7, 2, 8, 2, 9] </a:t>
            </a:r>
          </a:p>
          <a:p>
            <a:pPr>
              <a:buNone/>
            </a:pPr>
            <a:r>
              <a:rPr lang="en-US" sz="3200" dirty="0"/>
              <a:t>Sample Mean: 5.6 </a:t>
            </a:r>
          </a:p>
          <a:p>
            <a:pPr>
              <a:buNone/>
            </a:pPr>
            <a:r>
              <a:rPr lang="en-US" sz="3200" dirty="0"/>
              <a:t>Sample Median: 7.0 </a:t>
            </a:r>
          </a:p>
          <a:p>
            <a:pPr>
              <a:buNone/>
            </a:pPr>
            <a:r>
              <a:rPr lang="en-US" sz="3200" dirty="0"/>
              <a:t>Sample Mode: 2 </a:t>
            </a:r>
          </a:p>
          <a:p>
            <a:pPr>
              <a:buNone/>
            </a:pPr>
            <a:r>
              <a:rPr lang="en-US" sz="3200" dirty="0"/>
              <a:t>Sample Range: 7 </a:t>
            </a:r>
          </a:p>
          <a:p>
            <a:pPr>
              <a:buNone/>
            </a:pPr>
            <a:r>
              <a:rPr lang="en-US" sz="3200" dirty="0"/>
              <a:t>Sample Variance: 9.0</a:t>
            </a:r>
          </a:p>
          <a:p>
            <a:pPr>
              <a:buNone/>
            </a:pPr>
            <a:r>
              <a:rPr lang="en-US" sz="3200" dirty="0"/>
              <a:t>Sample Standard Deviation: 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C00000"/>
                </a:solidFill>
              </a:rPr>
              <a:t>Samples 3: [7, 8, 9, 5, 4]</a:t>
            </a:r>
          </a:p>
          <a:p>
            <a:pPr>
              <a:buNone/>
            </a:pPr>
            <a:r>
              <a:rPr lang="en-US" sz="2800" dirty="0"/>
              <a:t>Sample Mean: 6.6</a:t>
            </a:r>
          </a:p>
          <a:p>
            <a:pPr>
              <a:buNone/>
            </a:pPr>
            <a:r>
              <a:rPr lang="en-US" sz="2800" dirty="0"/>
              <a:t>Sample Median: 7.0 </a:t>
            </a:r>
          </a:p>
          <a:p>
            <a:pPr>
              <a:buNone/>
            </a:pPr>
            <a:r>
              <a:rPr lang="en-US" sz="2800" dirty="0"/>
              <a:t>Sample Mode: 4 </a:t>
            </a:r>
          </a:p>
          <a:p>
            <a:pPr>
              <a:buNone/>
            </a:pPr>
            <a:r>
              <a:rPr lang="en-US" sz="2800" dirty="0"/>
              <a:t>Sample Range: 5 </a:t>
            </a:r>
          </a:p>
          <a:p>
            <a:pPr>
              <a:buNone/>
            </a:pPr>
            <a:r>
              <a:rPr lang="en-US" sz="2800" dirty="0"/>
              <a:t>Sample Variance: 3.44 </a:t>
            </a:r>
          </a:p>
          <a:p>
            <a:pPr>
              <a:buNone/>
            </a:pPr>
            <a:r>
              <a:rPr lang="en-US" sz="2800" dirty="0"/>
              <a:t>Sample Standard Deviation: 1.8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500" b="1" dirty="0">
                <a:solidFill>
                  <a:srgbClr val="C00000"/>
                </a:solidFill>
              </a:rPr>
              <a:t>Samples 4: [1,2,0,1,3]</a:t>
            </a:r>
          </a:p>
          <a:p>
            <a:pPr>
              <a:buNone/>
            </a:pPr>
            <a:r>
              <a:rPr lang="en-US" sz="3200" dirty="0"/>
              <a:t>Sample Mean: 1.4 </a:t>
            </a:r>
          </a:p>
          <a:p>
            <a:pPr>
              <a:buNone/>
            </a:pPr>
            <a:r>
              <a:rPr lang="en-US" sz="3200" dirty="0"/>
              <a:t>Sample Median: 1.0</a:t>
            </a:r>
          </a:p>
          <a:p>
            <a:pPr>
              <a:buNone/>
            </a:pPr>
            <a:r>
              <a:rPr lang="en-US" sz="3200" dirty="0"/>
              <a:t>Sample Mode: 1 </a:t>
            </a:r>
          </a:p>
          <a:p>
            <a:pPr>
              <a:buNone/>
            </a:pPr>
            <a:r>
              <a:rPr lang="en-US" sz="3200" dirty="0"/>
              <a:t>Sample Range: 3 </a:t>
            </a:r>
          </a:p>
          <a:p>
            <a:pPr>
              <a:buNone/>
            </a:pPr>
            <a:r>
              <a:rPr lang="en-US" sz="3200" dirty="0"/>
              <a:t>Sample Variance: 1.04 </a:t>
            </a:r>
          </a:p>
          <a:p>
            <a:pPr>
              <a:buNone/>
            </a:pPr>
            <a:r>
              <a:rPr lang="en-US" sz="3200" dirty="0"/>
              <a:t>Sample Standard Deviation: 1.0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3200" dirty="0"/>
          </a:p>
          <a:p>
            <a:r>
              <a:rPr lang="en-US" sz="3200" b="1" dirty="0"/>
              <a:t>Answer- Sample 4 is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2. Data set [80, 41, 95, 53, 82, 33, 84, 32, 7, 27, 30, 23, 40, 20, 44, 16, 19, 28, 21, 97] with 4 samples [16, 28, 82, 80, 97], [30, 53, 84, 33, 97], [19, 7, 41, 21, 28], [7, 19, 80, 53, 27]. Which one is good?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Sample 1</a:t>
            </a:r>
          </a:p>
          <a:p>
            <a:pPr>
              <a:buNone/>
            </a:pPr>
            <a:r>
              <a:rPr lang="en-US" sz="3200" dirty="0"/>
              <a:t>Sample Mean: 60.6, Sample Median: 80.0 Sample Mode: 16, Sample Range: 81, Sample Variance: 1042.24, Sample Standard Deviation: 32.2</a:t>
            </a:r>
          </a:p>
          <a:p>
            <a:pPr>
              <a:buNone/>
            </a:pPr>
            <a:r>
              <a:rPr lang="en-US" sz="3200" dirty="0"/>
              <a:t>Sample-2</a:t>
            </a:r>
          </a:p>
          <a:p>
            <a:pPr>
              <a:buNone/>
            </a:pPr>
            <a:r>
              <a:rPr lang="en-US" sz="3200" dirty="0"/>
              <a:t>Sample Mean: 59.4, Sample Median: 53.0, Sample Mode: 30, Sample Range: 67, Sample Variance: 724.24, Sample Standard Deviation: 26.91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How to Check Goodness of a Sample?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>
                <a:solidFill>
                  <a:srgbClr val="C00000"/>
                </a:solidFill>
              </a:rPr>
              <a:t>Sample 3</a:t>
            </a:r>
          </a:p>
          <a:p>
            <a:pPr>
              <a:buNone/>
            </a:pPr>
            <a:r>
              <a:rPr lang="en-US" sz="3200" dirty="0">
                <a:solidFill>
                  <a:srgbClr val="C00000"/>
                </a:solidFill>
              </a:rPr>
              <a:t>Sample Mean: 23.2, Sample Median: 21.0, Sample Mode: 7, Sample Range: 34, Sample Variance: 124.96, Sample Standard Deviation: 11.17</a:t>
            </a:r>
          </a:p>
          <a:p>
            <a:pPr>
              <a:buNone/>
            </a:pPr>
            <a:r>
              <a:rPr lang="en-US" sz="3200" dirty="0"/>
              <a:t>Sample-4</a:t>
            </a:r>
          </a:p>
          <a:p>
            <a:pPr>
              <a:buNone/>
            </a:pPr>
            <a:r>
              <a:rPr lang="en-US" sz="3200" dirty="0"/>
              <a:t>Sample Mean: 37.2, Sample Median: 27.0, Sample Mode: 7, Sample Range: 73, Sample Variance: 685.76, Sample Standard Deviation: 26.18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Calculate Size of a Sample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sz="4100" b="1" dirty="0"/>
              <a:t>Simple Random Sampling: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pt-BR" sz="4300" b="1" dirty="0"/>
              <a:t>n = (Z^2 * p * (1-p)) / E^2</a:t>
            </a:r>
          </a:p>
          <a:p>
            <a:pPr algn="ctr">
              <a:buNone/>
            </a:pPr>
            <a:endParaRPr lang="pt-BR" sz="36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400" dirty="0"/>
              <a:t>where </a:t>
            </a:r>
          </a:p>
          <a:p>
            <a:r>
              <a:rPr lang="en-US" sz="3700" dirty="0"/>
              <a:t>n - sample size</a:t>
            </a:r>
          </a:p>
          <a:p>
            <a:r>
              <a:rPr lang="en-US" sz="3700" dirty="0"/>
              <a:t>Z - Z-score corresponding to the desired level of confidence (e.g. 1.96 for 95% confidence)</a:t>
            </a:r>
          </a:p>
          <a:p>
            <a:r>
              <a:rPr lang="en-US" sz="3700" dirty="0"/>
              <a:t>p - estimated proportion of the population with a certain characteristic (often assumed to be 0.5) </a:t>
            </a:r>
          </a:p>
          <a:p>
            <a:r>
              <a:rPr lang="en-US" sz="3700" dirty="0"/>
              <a:t>E - desired margin of error</a:t>
            </a:r>
            <a:endParaRPr lang="en-US" sz="37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Calculate Size of a Sample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410200"/>
          </a:xfrm>
        </p:spPr>
        <p:txBody>
          <a:bodyPr>
            <a:normAutofit fontScale="77500" lnSpcReduction="20000"/>
          </a:bodyPr>
          <a:lstStyle/>
          <a:p>
            <a:r>
              <a:rPr lang="en-US" sz="4100" b="1" dirty="0"/>
              <a:t>Stratified Sampling: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pt-BR" sz="5300" b="1" dirty="0"/>
              <a:t>n = (Z^2 * p * (1-p)) / (E/S)^2</a:t>
            </a:r>
          </a:p>
          <a:p>
            <a:pPr algn="ctr">
              <a:buNone/>
            </a:pPr>
            <a:endParaRPr lang="pt-BR" sz="36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100" dirty="0"/>
              <a:t>where </a:t>
            </a:r>
          </a:p>
          <a:p>
            <a:r>
              <a:rPr lang="en-US" sz="4100" dirty="0"/>
              <a:t>n - sample size, </a:t>
            </a:r>
          </a:p>
          <a:p>
            <a:r>
              <a:rPr lang="en-US" sz="4100" dirty="0"/>
              <a:t>Z - Z-score corresponding to the desired level of confidence (e.g. 1.96 for 95% confidence)</a:t>
            </a:r>
          </a:p>
          <a:p>
            <a:r>
              <a:rPr lang="en-US" sz="4100" dirty="0"/>
              <a:t>p - estimated proportion of the population with a certain characteristic (often assumed to be 0.5), </a:t>
            </a:r>
          </a:p>
          <a:p>
            <a:r>
              <a:rPr lang="en-US" sz="4100" dirty="0"/>
              <a:t>E - desired margin of error</a:t>
            </a:r>
          </a:p>
          <a:p>
            <a:r>
              <a:rPr lang="en-US" sz="4100" dirty="0"/>
              <a:t>S - number of strata.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Calculate Size of a Sample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410200"/>
          </a:xfrm>
        </p:spPr>
        <p:txBody>
          <a:bodyPr>
            <a:normAutofit fontScale="77500" lnSpcReduction="20000"/>
          </a:bodyPr>
          <a:lstStyle/>
          <a:p>
            <a:r>
              <a:rPr lang="en-US" sz="4100" b="1" dirty="0"/>
              <a:t>Cluster Sampling:</a:t>
            </a:r>
            <a:endParaRPr lang="en-US" sz="4100" b="1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pt-BR" sz="5300" b="1" dirty="0"/>
              <a:t>n = (Z^2 * p * (1-p)) / (E/C)^2</a:t>
            </a:r>
          </a:p>
          <a:p>
            <a:pPr algn="ctr">
              <a:buNone/>
            </a:pPr>
            <a:endParaRPr lang="pt-BR" sz="36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100" dirty="0"/>
              <a:t>where </a:t>
            </a:r>
          </a:p>
          <a:p>
            <a:r>
              <a:rPr lang="en-US" sz="4100" dirty="0"/>
              <a:t>n - sample size, </a:t>
            </a:r>
          </a:p>
          <a:p>
            <a:r>
              <a:rPr lang="en-US" sz="4100" dirty="0"/>
              <a:t>Z - Z-score corresponding to the desired level of confidence (e.g. 1.96 for 95% confidence)</a:t>
            </a:r>
          </a:p>
          <a:p>
            <a:r>
              <a:rPr lang="en-US" sz="4100" dirty="0"/>
              <a:t>p - estimated proportion of the population with a certain characteristic (often assumed to be 0.5), </a:t>
            </a:r>
          </a:p>
          <a:p>
            <a:r>
              <a:rPr lang="en-US" sz="4100" dirty="0"/>
              <a:t>E - desired margin of error</a:t>
            </a:r>
          </a:p>
          <a:p>
            <a:r>
              <a:rPr lang="en-US" sz="4100" dirty="0"/>
              <a:t>C - average size of the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Calculate Size of a Sample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410200"/>
          </a:xfrm>
        </p:spPr>
        <p:txBody>
          <a:bodyPr>
            <a:normAutofit/>
          </a:bodyPr>
          <a:lstStyle/>
          <a:p>
            <a:r>
              <a:rPr lang="en-US" sz="3200" dirty="0"/>
              <a:t>Consider a population of 10,000 individuals, and a desired confidence level of 95% and margin of error of 5%. Determine the sample size.</a:t>
            </a:r>
          </a:p>
          <a:p>
            <a:endParaRPr lang="pt-BR" sz="3000" b="1" dirty="0"/>
          </a:p>
          <a:p>
            <a:endParaRPr lang="en-US" sz="41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Calculate Size of a Sample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410200"/>
          </a:xfrm>
        </p:spPr>
        <p:txBody>
          <a:bodyPr>
            <a:normAutofit/>
          </a:bodyPr>
          <a:lstStyle/>
          <a:p>
            <a:r>
              <a:rPr lang="en-US" sz="3200" dirty="0"/>
              <a:t>Consider a population of 10,000 individuals, and a desired confidence level of 95% and margin of error of 5%. Determine the sample size.</a:t>
            </a:r>
          </a:p>
          <a:p>
            <a:r>
              <a:rPr lang="en-US" sz="3200" b="1" dirty="0"/>
              <a:t>Solution- Simple random sampling:</a:t>
            </a:r>
          </a:p>
          <a:p>
            <a:pPr>
              <a:buNone/>
            </a:pPr>
            <a:r>
              <a:rPr lang="pt-BR" sz="3000" b="1" dirty="0"/>
              <a:t>     n = (Z^2 * p * (1-p)) / E^2</a:t>
            </a:r>
          </a:p>
          <a:p>
            <a:pPr>
              <a:buNone/>
            </a:pPr>
            <a:r>
              <a:rPr lang="pt-BR" sz="3000" b="1" dirty="0"/>
              <a:t>     n = (1.96^2 * 0.5 * (1 - 0.5)) / (0.05^2) = 384.16</a:t>
            </a:r>
          </a:p>
          <a:p>
            <a:pPr>
              <a:buNone/>
            </a:pPr>
            <a:r>
              <a:rPr lang="pt-BR" sz="3000" b="1" dirty="0"/>
              <a:t>     n=384.16 </a:t>
            </a:r>
          </a:p>
          <a:p>
            <a:pPr>
              <a:buNone/>
            </a:pPr>
            <a:r>
              <a:rPr lang="pt-BR" sz="3000" b="1" dirty="0"/>
              <a:t>     n=384</a:t>
            </a:r>
          </a:p>
          <a:p>
            <a:endParaRPr lang="en-US" sz="41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E858-84F6-B929-9230-2F85D0E7A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Question-2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BCEC9-4706-7181-7A25-ADAE29C4BA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A city has </a:t>
                </a:r>
                <a:r>
                  <a:rPr lang="en-US" sz="2800" b="1" dirty="0"/>
                  <a:t>15,000 households</a:t>
                </a:r>
                <a:r>
                  <a:rPr lang="en-US" sz="2800" dirty="0"/>
                  <a:t>, grouped into </a:t>
                </a:r>
                <a:r>
                  <a:rPr lang="en-US" sz="2800" b="1" dirty="0"/>
                  <a:t>300 clusters</a:t>
                </a:r>
                <a:r>
                  <a:rPr lang="en-US" sz="2800" dirty="0"/>
                  <a:t>, with an </a:t>
                </a:r>
                <a:r>
                  <a:rPr lang="en-US" sz="2800" b="1" dirty="0"/>
                  <a:t>average cluster size of 50 households</a:t>
                </a:r>
                <a:r>
                  <a:rPr lang="en-US" sz="2800" dirty="0"/>
                  <a:t>. The researcher wants:</a:t>
                </a:r>
              </a:p>
              <a:p>
                <a:pPr lvl="1"/>
                <a:r>
                  <a:rPr lang="en-US" sz="2800" b="1" dirty="0"/>
                  <a:t>95% confidence level</a:t>
                </a:r>
                <a:endParaRPr lang="en-US" sz="2800" dirty="0"/>
              </a:p>
              <a:p>
                <a:pPr lvl="1"/>
                <a:r>
                  <a:rPr lang="en-US" sz="2800" b="1" dirty="0"/>
                  <a:t>Margin of error = 5%</a:t>
                </a:r>
                <a:endParaRPr lang="en-US" sz="2800" dirty="0"/>
              </a:p>
              <a:p>
                <a:r>
                  <a:rPr lang="en-US" sz="2800" dirty="0"/>
                  <a:t>Assume: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/>
                        <m:t>𝑍</m:t>
                      </m:r>
                      <m:r>
                        <a:rPr lang="en-US" sz="2800"/>
                        <m:t>=1.96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/>
                        <m:t>𝑝</m:t>
                      </m:r>
                      <m:r>
                        <a:rPr lang="en-US" sz="2800"/>
                        <m:t>=0.5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b="1" dirty="0"/>
                  <a:t>Determine the required sample size using Cluster Sampling.</a:t>
                </a:r>
                <a:endParaRPr lang="en-US" sz="28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BCEC9-4706-7181-7A25-ADAE29C4BA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b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5F906-95F3-8A0B-3CAB-54CED9775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919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A4601-43F2-02AE-5983-81F1596C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Question-3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550E-5D65-4BC2-E6BD-AA771CF5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university has 8,000 students distributed across 5 </a:t>
            </a:r>
            <a:r>
              <a:rPr lang="en-US" sz="2800" dirty="0" err="1"/>
              <a:t>departments.To</a:t>
            </a:r>
            <a:r>
              <a:rPr lang="en-US" sz="2800" dirty="0"/>
              <a:t> ensure proportional representation, …………..sampling is used. If the confidence level is 95% and margin of error is 5%, calculate the sample size.</a:t>
            </a: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3F095-3D01-2287-05D7-1C71EB94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3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7102</TotalTime>
  <Words>2873</Words>
  <Application>Microsoft Office PowerPoint</Application>
  <PresentationFormat>On-screen Show (4:3)</PresentationFormat>
  <Paragraphs>391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Calibri Light</vt:lpstr>
      <vt:lpstr>Comic Sans MS</vt:lpstr>
      <vt:lpstr>Wingdings</vt:lpstr>
      <vt:lpstr>Office Theme</vt:lpstr>
      <vt:lpstr>Sampling</vt:lpstr>
      <vt:lpstr>Sampling</vt:lpstr>
      <vt:lpstr>Sampling</vt:lpstr>
      <vt:lpstr>Sampling</vt:lpstr>
      <vt:lpstr>Examples</vt:lpstr>
      <vt:lpstr>Examples</vt:lpstr>
      <vt:lpstr>Examples</vt:lpstr>
      <vt:lpstr>Examples</vt:lpstr>
      <vt:lpstr>Steps Involved in Sampling</vt:lpstr>
      <vt:lpstr>Steps Involved in Sampling</vt:lpstr>
      <vt:lpstr>Steps Involved in Sampling</vt:lpstr>
      <vt:lpstr>Steps Involved in Sampling</vt:lpstr>
      <vt:lpstr>Steps Involved in Sampling</vt:lpstr>
      <vt:lpstr>Steps Involved in Sampling</vt:lpstr>
      <vt:lpstr>Steps Involved in Sampling</vt:lpstr>
      <vt:lpstr>Types of Sampling</vt:lpstr>
      <vt:lpstr>Probabilistic Sampling</vt:lpstr>
      <vt:lpstr>Non-probabilistic Sampling</vt:lpstr>
      <vt:lpstr>Simple Random Sampling</vt:lpstr>
      <vt:lpstr>Systematic Sampling</vt:lpstr>
      <vt:lpstr>Stratified Sampling</vt:lpstr>
      <vt:lpstr>Stratified Sampling</vt:lpstr>
      <vt:lpstr>Stratified Sampling</vt:lpstr>
      <vt:lpstr>Cluster Sampling</vt:lpstr>
      <vt:lpstr>Example</vt:lpstr>
      <vt:lpstr>Cluster Vs Stratified Sampling</vt:lpstr>
      <vt:lpstr>Cross-Validation Sampling</vt:lpstr>
      <vt:lpstr>K-Fold Cross-Validation</vt:lpstr>
      <vt:lpstr>K-fold Cross-Validation </vt:lpstr>
      <vt:lpstr>Bootstrap Sampling</vt:lpstr>
      <vt:lpstr>Bootstrap vs Random Sampling</vt:lpstr>
      <vt:lpstr>Which Sampling Technique to Use ?</vt:lpstr>
      <vt:lpstr>Which Sampling Technique to Use ?</vt:lpstr>
      <vt:lpstr>Which Sampling Technique to Use ?</vt:lpstr>
      <vt:lpstr>Why need Sampling?</vt:lpstr>
      <vt:lpstr>Imbalanced classes</vt:lpstr>
      <vt:lpstr>Imbalanced classes</vt:lpstr>
      <vt:lpstr>How to Balance Class Distribution?</vt:lpstr>
      <vt:lpstr>How to Balance Class Distribution?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How to Check Goodness of a Sample?</vt:lpstr>
      <vt:lpstr>Calculate Size of a Sample</vt:lpstr>
      <vt:lpstr>Calculate Size of a Sample</vt:lpstr>
      <vt:lpstr>Calculate Size of a Sample</vt:lpstr>
      <vt:lpstr>Calculate Size of a Sample</vt:lpstr>
      <vt:lpstr>Calculate Size of a Sample</vt:lpstr>
      <vt:lpstr>Question-2</vt:lpstr>
      <vt:lpstr>Question-3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ANALYTICS USING STATISTICS </dc:title>
  <dc:creator>Anjula Mehto</dc:creator>
  <cp:lastModifiedBy>Anjula Mehto</cp:lastModifiedBy>
  <cp:revision>317</cp:revision>
  <dcterms:created xsi:type="dcterms:W3CDTF">2006-08-16T00:00:00Z</dcterms:created>
  <dcterms:modified xsi:type="dcterms:W3CDTF">2026-01-15T04:41:46Z</dcterms:modified>
</cp:coreProperties>
</file>